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486400" cy="254000"/>
          </a:xfrm>
          <a:prstGeom prst="rect">
            <a:avLst/>
          </a:prstGeom>
          <a:noFill/>
        </p:spPr>
        <p:txBody>
          <a:bodyPr wrap="square">
            <a:spAutoFit/>
          </a:bodyPr>
          <a:lstStyle/>
          <a:p>
            <a:pPr algn="l"/>
            <a:r>
              <a:rPr sz="1000" b="1" i="0">
                <a:solidFill>
                  <a:srgbClr val="1A0918"/>
                </a:solidFill>
                <a:latin typeface="Calibri"/>
              </a:rPr>
              <a:t>▶  TRYBE × CANDIDATE</a:t>
            </a:r>
          </a:p>
        </p:txBody>
      </p:sp>
      <p:sp>
        <p:nvSpPr>
          <p:cNvPr id="4" name="TextBox 3"/>
          <p:cNvSpPr txBox="1"/>
          <p:nvPr/>
        </p:nvSpPr>
        <p:spPr>
          <a:xfrm>
            <a:off x="6400800" y="502920"/>
            <a:ext cx="5029200" cy="254000"/>
          </a:xfrm>
          <a:prstGeom prst="rect">
            <a:avLst/>
          </a:prstGeom>
          <a:noFill/>
        </p:spPr>
        <p:txBody>
          <a:bodyPr wrap="square">
            <a:spAutoFit/>
          </a:bodyPr>
          <a:lstStyle/>
          <a:p>
            <a:pPr algn="r"/>
            <a:r>
              <a:rPr sz="900" b="0" i="0">
                <a:solidFill>
                  <a:srgbClr val="8A7585"/>
                </a:solidFill>
                <a:latin typeface="Calibri"/>
              </a:rPr>
              <a:t>Head of People · May 2026</a:t>
            </a:r>
          </a:p>
        </p:txBody>
      </p:sp>
      <p:sp>
        <p:nvSpPr>
          <p:cNvPr id="5" name="TextBox 4"/>
          <p:cNvSpPr txBox="1"/>
          <p:nvPr/>
        </p:nvSpPr>
        <p:spPr>
          <a:xfrm>
            <a:off x="822960" y="1828800"/>
            <a:ext cx="9144000" cy="254000"/>
          </a:xfrm>
          <a:prstGeom prst="rect">
            <a:avLst/>
          </a:prstGeom>
          <a:noFill/>
        </p:spPr>
        <p:txBody>
          <a:bodyPr wrap="square">
            <a:spAutoFit/>
          </a:bodyPr>
          <a:lstStyle/>
          <a:p>
            <a:pPr algn="l"/>
            <a:r>
              <a:rPr sz="900" b="0" i="0">
                <a:solidFill>
                  <a:srgbClr val="E6007E"/>
                </a:solidFill>
                <a:latin typeface="Calibri"/>
              </a:rPr>
              <a:t>— People strategy as operating system</a:t>
            </a:r>
          </a:p>
        </p:txBody>
      </p:sp>
      <p:sp>
        <p:nvSpPr>
          <p:cNvPr id="6" name="TextBox 5"/>
          <p:cNvSpPr txBox="1"/>
          <p:nvPr/>
        </p:nvSpPr>
        <p:spPr>
          <a:xfrm>
            <a:off x="822960" y="2240280"/>
            <a:ext cx="10241280" cy="1828800"/>
          </a:xfrm>
          <a:prstGeom prst="rect">
            <a:avLst/>
          </a:prstGeom>
          <a:noFill/>
        </p:spPr>
        <p:txBody>
          <a:bodyPr wrap="square">
            <a:spAutoFit/>
          </a:bodyPr>
          <a:lstStyle/>
          <a:p>
            <a:pPr algn="l"/>
            <a:r>
              <a:rPr sz="4200" b="0" i="0">
                <a:solidFill>
                  <a:srgbClr val="1A0918"/>
                </a:solidFill>
                <a:latin typeface="Calibri"/>
              </a:rPr>
              <a:t>People strategy as the operating system for the pivot.</a:t>
            </a:r>
          </a:p>
        </p:txBody>
      </p:sp>
      <p:sp>
        <p:nvSpPr>
          <p:cNvPr id="7" name="TextBox 6"/>
          <p:cNvSpPr txBox="1"/>
          <p:nvPr/>
        </p:nvSpPr>
        <p:spPr>
          <a:xfrm>
            <a:off x="822960" y="4206240"/>
            <a:ext cx="9144000" cy="548640"/>
          </a:xfrm>
          <a:prstGeom prst="rect">
            <a:avLst/>
          </a:prstGeom>
          <a:noFill/>
        </p:spPr>
        <p:txBody>
          <a:bodyPr wrap="square">
            <a:spAutoFit/>
          </a:bodyPr>
          <a:lstStyle/>
          <a:p>
            <a:pPr algn="l"/>
            <a:r>
              <a:rPr sz="1400" b="0" i="0">
                <a:solidFill>
                  <a:srgbClr val="4A2F47"/>
                </a:solidFill>
                <a:latin typeface="Calibri"/>
              </a:rPr>
              <a:t>From spa software to experience platform — designing the People function for the journey.</a:t>
            </a:r>
          </a:p>
        </p:txBody>
      </p:sp>
      <p:sp>
        <p:nvSpPr>
          <p:cNvPr id="8" name="TextBox 7"/>
          <p:cNvSpPr txBox="1"/>
          <p:nvPr/>
        </p:nvSpPr>
        <p:spPr>
          <a:xfrm>
            <a:off x="822960" y="5029200"/>
            <a:ext cx="1280160" cy="254000"/>
          </a:xfrm>
          <a:prstGeom prst="rect">
            <a:avLst/>
          </a:prstGeom>
          <a:noFill/>
        </p:spPr>
        <p:txBody>
          <a:bodyPr wrap="square">
            <a:spAutoFit/>
          </a:bodyPr>
          <a:lstStyle/>
          <a:p>
            <a:pPr algn="l"/>
            <a:r>
              <a:rPr sz="800" b="0" i="0">
                <a:solidFill>
                  <a:srgbClr val="8A7585"/>
                </a:solidFill>
                <a:latin typeface="Calibri"/>
              </a:rPr>
              <a:t>PRESENTER</a:t>
            </a:r>
          </a:p>
        </p:txBody>
      </p:sp>
      <p:sp>
        <p:nvSpPr>
          <p:cNvPr id="9" name="TextBox 8"/>
          <p:cNvSpPr txBox="1"/>
          <p:nvPr/>
        </p:nvSpPr>
        <p:spPr>
          <a:xfrm>
            <a:off x="2194560" y="5029200"/>
            <a:ext cx="8229600" cy="254000"/>
          </a:xfrm>
          <a:prstGeom prst="rect">
            <a:avLst/>
          </a:prstGeom>
          <a:noFill/>
        </p:spPr>
        <p:txBody>
          <a:bodyPr wrap="square">
            <a:spAutoFit/>
          </a:bodyPr>
          <a:lstStyle/>
          <a:p>
            <a:pPr algn="l"/>
            <a:r>
              <a:rPr sz="1200" b="0" i="0">
                <a:solidFill>
                  <a:srgbClr val="4A2F47"/>
                </a:solidFill>
                <a:latin typeface="Calibri"/>
              </a:rPr>
              <a:t>Stephanie Fadahunsi · Head of People candidate</a:t>
            </a:r>
          </a:p>
        </p:txBody>
      </p:sp>
      <p:sp>
        <p:nvSpPr>
          <p:cNvPr id="10" name="TextBox 9"/>
          <p:cNvSpPr txBox="1"/>
          <p:nvPr/>
        </p:nvSpPr>
        <p:spPr>
          <a:xfrm>
            <a:off x="822960" y="5321808"/>
            <a:ext cx="1280160" cy="254000"/>
          </a:xfrm>
          <a:prstGeom prst="rect">
            <a:avLst/>
          </a:prstGeom>
          <a:noFill/>
        </p:spPr>
        <p:txBody>
          <a:bodyPr wrap="square">
            <a:spAutoFit/>
          </a:bodyPr>
          <a:lstStyle/>
          <a:p>
            <a:pPr algn="l"/>
            <a:r>
              <a:rPr sz="800" b="0" i="0">
                <a:solidFill>
                  <a:srgbClr val="8A7585"/>
                </a:solidFill>
                <a:latin typeface="Calibri"/>
              </a:rPr>
              <a:t>FOR</a:t>
            </a:r>
          </a:p>
        </p:txBody>
      </p:sp>
      <p:sp>
        <p:nvSpPr>
          <p:cNvPr id="11" name="TextBox 10"/>
          <p:cNvSpPr txBox="1"/>
          <p:nvPr/>
        </p:nvSpPr>
        <p:spPr>
          <a:xfrm>
            <a:off x="2194560" y="5321808"/>
            <a:ext cx="8229600" cy="254000"/>
          </a:xfrm>
          <a:prstGeom prst="rect">
            <a:avLst/>
          </a:prstGeom>
          <a:noFill/>
        </p:spPr>
        <p:txBody>
          <a:bodyPr wrap="square">
            <a:spAutoFit/>
          </a:bodyPr>
          <a:lstStyle/>
          <a:p>
            <a:pPr algn="l"/>
            <a:r>
              <a:rPr sz="1200" b="0" i="0">
                <a:solidFill>
                  <a:srgbClr val="4A2F47"/>
                </a:solidFill>
                <a:latin typeface="Calibri"/>
              </a:rPr>
              <a:t>Trybe · Series A · Five Elms Capital · London</a:t>
            </a:r>
          </a:p>
        </p:txBody>
      </p:sp>
      <p:sp>
        <p:nvSpPr>
          <p:cNvPr id="12" name="TextBox 11"/>
          <p:cNvSpPr txBox="1"/>
          <p:nvPr/>
        </p:nvSpPr>
        <p:spPr>
          <a:xfrm>
            <a:off x="822960" y="5614416"/>
            <a:ext cx="1280160" cy="254000"/>
          </a:xfrm>
          <a:prstGeom prst="rect">
            <a:avLst/>
          </a:prstGeom>
          <a:noFill/>
        </p:spPr>
        <p:txBody>
          <a:bodyPr wrap="square">
            <a:spAutoFit/>
          </a:bodyPr>
          <a:lstStyle/>
          <a:p>
            <a:pPr algn="l"/>
            <a:r>
              <a:rPr sz="800" b="0" i="0">
                <a:solidFill>
                  <a:srgbClr val="8A7585"/>
                </a:solidFill>
                <a:latin typeface="Calibri"/>
              </a:rPr>
              <a:t>DATE</a:t>
            </a:r>
          </a:p>
        </p:txBody>
      </p:sp>
      <p:sp>
        <p:nvSpPr>
          <p:cNvPr id="13" name="TextBox 12"/>
          <p:cNvSpPr txBox="1"/>
          <p:nvPr/>
        </p:nvSpPr>
        <p:spPr>
          <a:xfrm>
            <a:off x="2194560" y="5614416"/>
            <a:ext cx="8229600" cy="254000"/>
          </a:xfrm>
          <a:prstGeom prst="rect">
            <a:avLst/>
          </a:prstGeom>
          <a:noFill/>
        </p:spPr>
        <p:txBody>
          <a:bodyPr wrap="square">
            <a:spAutoFit/>
          </a:bodyPr>
          <a:lstStyle/>
          <a:p>
            <a:pPr algn="l"/>
            <a:r>
              <a:rPr sz="1200" b="0" i="0">
                <a:solidFill>
                  <a:srgbClr val="4A2F47"/>
                </a:solidFill>
                <a:latin typeface="Calibri"/>
              </a:rPr>
              <a:t>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02 · Today and becoming</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How I see Trybe</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Today and becoming.</a:t>
            </a:r>
          </a:p>
        </p:txBody>
      </p:sp>
      <p:sp>
        <p:nvSpPr>
          <p:cNvPr id="6" name="TextBox 5"/>
          <p:cNvSpPr txBox="1"/>
          <p:nvPr/>
        </p:nvSpPr>
        <p:spPr>
          <a:xfrm>
            <a:off x="822960" y="1874519"/>
            <a:ext cx="10515600" cy="502920"/>
          </a:xfrm>
          <a:prstGeom prst="rect">
            <a:avLst/>
          </a:prstGeom>
          <a:noFill/>
        </p:spPr>
        <p:txBody>
          <a:bodyPr wrap="square">
            <a:spAutoFit/>
          </a:bodyPr>
          <a:lstStyle/>
          <a:p>
            <a:pPr algn="l"/>
            <a:r>
              <a:rPr sz="1200" b="0" i="0">
                <a:solidFill>
                  <a:srgbClr val="4A2F47"/>
                </a:solidFill>
                <a:latin typeface="Calibri"/>
              </a:rPr>
              <a:t>The People function has to serve both — operating for the business today, and building for the company Five Elms is underwriting.</a:t>
            </a:r>
          </a:p>
        </p:txBody>
      </p:sp>
      <p:sp>
        <p:nvSpPr>
          <p:cNvPr id="7" name="Rectangle 6"/>
          <p:cNvSpPr/>
          <p:nvPr/>
        </p:nvSpPr>
        <p:spPr>
          <a:xfrm>
            <a:off x="822960" y="2468880"/>
            <a:ext cx="10515600" cy="41148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23744"/>
            <a:ext cx="1371600" cy="228600"/>
          </a:xfrm>
          <a:prstGeom prst="rect">
            <a:avLst/>
          </a:prstGeom>
          <a:noFill/>
        </p:spPr>
        <p:txBody>
          <a:bodyPr wrap="square">
            <a:spAutoFit/>
          </a:bodyPr>
          <a:lstStyle/>
          <a:p>
            <a:pPr algn="l"/>
            <a:r>
              <a:rPr sz="800" b="0" i="0">
                <a:solidFill>
                  <a:srgbClr val="8A7585"/>
                </a:solidFill>
                <a:latin typeface="Calibri"/>
              </a:rPr>
              <a:t/>
            </a:r>
          </a:p>
        </p:txBody>
      </p:sp>
      <p:sp>
        <p:nvSpPr>
          <p:cNvPr id="9" name="TextBox 8"/>
          <p:cNvSpPr txBox="1"/>
          <p:nvPr/>
        </p:nvSpPr>
        <p:spPr>
          <a:xfrm>
            <a:off x="2331720" y="2523744"/>
            <a:ext cx="4023360" cy="228600"/>
          </a:xfrm>
          <a:prstGeom prst="rect">
            <a:avLst/>
          </a:prstGeom>
          <a:noFill/>
        </p:spPr>
        <p:txBody>
          <a:bodyPr wrap="square">
            <a:spAutoFit/>
          </a:bodyPr>
          <a:lstStyle/>
          <a:p>
            <a:pPr algn="l"/>
            <a:r>
              <a:rPr sz="800" b="0" i="0">
                <a:solidFill>
                  <a:srgbClr val="8A7585"/>
                </a:solidFill>
                <a:latin typeface="Calibri"/>
              </a:rPr>
              <a:t>TODAY</a:t>
            </a:r>
          </a:p>
        </p:txBody>
      </p:sp>
      <p:sp>
        <p:nvSpPr>
          <p:cNvPr id="10" name="TextBox 9"/>
          <p:cNvSpPr txBox="1"/>
          <p:nvPr/>
        </p:nvSpPr>
        <p:spPr>
          <a:xfrm>
            <a:off x="6446520" y="2523744"/>
            <a:ext cx="4846320" cy="228600"/>
          </a:xfrm>
          <a:prstGeom prst="rect">
            <a:avLst/>
          </a:prstGeom>
          <a:noFill/>
        </p:spPr>
        <p:txBody>
          <a:bodyPr wrap="square">
            <a:spAutoFit/>
          </a:bodyPr>
          <a:lstStyle/>
          <a:p>
            <a:pPr algn="l"/>
            <a:r>
              <a:rPr sz="800" b="0" i="0">
                <a:solidFill>
                  <a:srgbClr val="E6007E"/>
                </a:solidFill>
                <a:latin typeface="Calibri"/>
              </a:rPr>
              <a:t>BECOMING</a:t>
            </a:r>
          </a:p>
        </p:txBody>
      </p:sp>
      <p:sp>
        <p:nvSpPr>
          <p:cNvPr id="11" name="Rectangle 10"/>
          <p:cNvSpPr/>
          <p:nvPr/>
        </p:nvSpPr>
        <p:spPr>
          <a:xfrm>
            <a:off x="822960" y="2779776"/>
            <a:ext cx="10515600" cy="256032"/>
          </a:xfrm>
          <a:prstGeom prst="rect">
            <a:avLst/>
          </a:prstGeom>
          <a:solidFill>
            <a:srgbClr val="FCE8F2"/>
          </a:solidFill>
          <a:ln w="3175">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816352"/>
            <a:ext cx="10332720" cy="228600"/>
          </a:xfrm>
          <a:prstGeom prst="rect">
            <a:avLst/>
          </a:prstGeom>
          <a:noFill/>
        </p:spPr>
        <p:txBody>
          <a:bodyPr wrap="square">
            <a:spAutoFit/>
          </a:bodyPr>
          <a:lstStyle/>
          <a:p>
            <a:pPr algn="l"/>
            <a:r>
              <a:rPr sz="800" b="0" i="0">
                <a:solidFill>
                  <a:srgbClr val="E6007E"/>
                </a:solidFill>
                <a:latin typeface="Calibri"/>
              </a:rPr>
              <a:t>VALUE CREATION</a:t>
            </a:r>
          </a:p>
        </p:txBody>
      </p:sp>
      <p:sp>
        <p:nvSpPr>
          <p:cNvPr id="13" name="TextBox 12"/>
          <p:cNvSpPr txBox="1"/>
          <p:nvPr/>
        </p:nvSpPr>
        <p:spPr>
          <a:xfrm>
            <a:off x="914400" y="3072384"/>
            <a:ext cx="1325880" cy="347472"/>
          </a:xfrm>
          <a:prstGeom prst="rect">
            <a:avLst/>
          </a:prstGeom>
          <a:noFill/>
        </p:spPr>
        <p:txBody>
          <a:bodyPr wrap="square">
            <a:spAutoFit/>
          </a:bodyPr>
          <a:lstStyle/>
          <a:p>
            <a:pPr algn="l"/>
            <a:r>
              <a:rPr sz="1000" b="0" i="0">
                <a:solidFill>
                  <a:srgbClr val="8A7585"/>
                </a:solidFill>
                <a:latin typeface="Calibri"/>
              </a:rPr>
              <a:t>Category</a:t>
            </a:r>
          </a:p>
        </p:txBody>
      </p:sp>
      <p:sp>
        <p:nvSpPr>
          <p:cNvPr id="14" name="TextBox 13"/>
          <p:cNvSpPr txBox="1"/>
          <p:nvPr/>
        </p:nvSpPr>
        <p:spPr>
          <a:xfrm>
            <a:off x="2377440" y="3072384"/>
            <a:ext cx="3977640" cy="347472"/>
          </a:xfrm>
          <a:prstGeom prst="rect">
            <a:avLst/>
          </a:prstGeom>
          <a:noFill/>
        </p:spPr>
        <p:txBody>
          <a:bodyPr wrap="square">
            <a:spAutoFit/>
          </a:bodyPr>
          <a:lstStyle/>
          <a:p>
            <a:pPr algn="l"/>
            <a:r>
              <a:rPr sz="1000" b="0" i="0">
                <a:solidFill>
                  <a:srgbClr val="4A2F47"/>
                </a:solidFill>
                <a:latin typeface="Calibri"/>
              </a:rPr>
              <a:t>Spa software</a:t>
            </a:r>
          </a:p>
        </p:txBody>
      </p:sp>
      <p:sp>
        <p:nvSpPr>
          <p:cNvPr id="15" name="TextBox 14"/>
          <p:cNvSpPr txBox="1"/>
          <p:nvPr/>
        </p:nvSpPr>
        <p:spPr>
          <a:xfrm>
            <a:off x="6492240" y="3072384"/>
            <a:ext cx="4800600" cy="347472"/>
          </a:xfrm>
          <a:prstGeom prst="rect">
            <a:avLst/>
          </a:prstGeom>
          <a:noFill/>
        </p:spPr>
        <p:txBody>
          <a:bodyPr wrap="square">
            <a:spAutoFit/>
          </a:bodyPr>
          <a:lstStyle/>
          <a:p>
            <a:pPr algn="l"/>
            <a:r>
              <a:rPr sz="1000" b="0" i="0">
                <a:solidFill>
                  <a:srgbClr val="1A0918"/>
                </a:solidFill>
                <a:latin typeface="Calibri"/>
              </a:rPr>
              <a:t>Experience platform for hospitality</a:t>
            </a:r>
          </a:p>
        </p:txBody>
      </p:sp>
      <p:sp>
        <p:nvSpPr>
          <p:cNvPr id="16" name="Rectangle 15"/>
          <p:cNvSpPr/>
          <p:nvPr/>
        </p:nvSpPr>
        <p:spPr>
          <a:xfrm>
            <a:off x="822960" y="3438144"/>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74720"/>
            <a:ext cx="1325880" cy="347472"/>
          </a:xfrm>
          <a:prstGeom prst="rect">
            <a:avLst/>
          </a:prstGeom>
          <a:noFill/>
        </p:spPr>
        <p:txBody>
          <a:bodyPr wrap="square">
            <a:spAutoFit/>
          </a:bodyPr>
          <a:lstStyle/>
          <a:p>
            <a:pPr algn="l"/>
            <a:r>
              <a:rPr sz="1000" b="0" i="0">
                <a:solidFill>
                  <a:srgbClr val="8A7585"/>
                </a:solidFill>
                <a:latin typeface="Calibri"/>
              </a:rPr>
              <a:t>What it sells</a:t>
            </a:r>
          </a:p>
        </p:txBody>
      </p:sp>
      <p:sp>
        <p:nvSpPr>
          <p:cNvPr id="18" name="TextBox 17"/>
          <p:cNvSpPr txBox="1"/>
          <p:nvPr/>
        </p:nvSpPr>
        <p:spPr>
          <a:xfrm>
            <a:off x="2377440" y="3474720"/>
            <a:ext cx="3977640" cy="347472"/>
          </a:xfrm>
          <a:prstGeom prst="rect">
            <a:avLst/>
          </a:prstGeom>
          <a:noFill/>
        </p:spPr>
        <p:txBody>
          <a:bodyPr wrap="square">
            <a:spAutoFit/>
          </a:bodyPr>
          <a:lstStyle/>
          <a:p>
            <a:pPr algn="l"/>
            <a:r>
              <a:rPr sz="1000" b="0" i="0">
                <a:solidFill>
                  <a:srgbClr val="4A2F47"/>
                </a:solidFill>
                <a:latin typeface="Calibri"/>
              </a:rPr>
              <a:t>Spa operations: bookings, scheduling, payments, memberships</a:t>
            </a:r>
          </a:p>
        </p:txBody>
      </p:sp>
      <p:sp>
        <p:nvSpPr>
          <p:cNvPr id="19" name="TextBox 18"/>
          <p:cNvSpPr txBox="1"/>
          <p:nvPr/>
        </p:nvSpPr>
        <p:spPr>
          <a:xfrm>
            <a:off x="6492240" y="3474720"/>
            <a:ext cx="4800600" cy="347472"/>
          </a:xfrm>
          <a:prstGeom prst="rect">
            <a:avLst/>
          </a:prstGeom>
          <a:noFill/>
        </p:spPr>
        <p:txBody>
          <a:bodyPr wrap="square">
            <a:spAutoFit/>
          </a:bodyPr>
          <a:lstStyle/>
          <a:p>
            <a:pPr algn="l"/>
            <a:r>
              <a:rPr sz="1000" b="0" i="0">
                <a:solidFill>
                  <a:srgbClr val="1A0918"/>
                </a:solidFill>
                <a:latin typeface="Calibri"/>
              </a:rPr>
              <a:t>The system underneath everything in the hotel that isn't the bedroom</a:t>
            </a:r>
          </a:p>
        </p:txBody>
      </p:sp>
      <p:sp>
        <p:nvSpPr>
          <p:cNvPr id="20" name="Rectangle 19"/>
          <p:cNvSpPr/>
          <p:nvPr/>
        </p:nvSpPr>
        <p:spPr>
          <a:xfrm>
            <a:off x="822960" y="3840480"/>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77056"/>
            <a:ext cx="1325880" cy="347472"/>
          </a:xfrm>
          <a:prstGeom prst="rect">
            <a:avLst/>
          </a:prstGeom>
          <a:noFill/>
        </p:spPr>
        <p:txBody>
          <a:bodyPr wrap="square">
            <a:spAutoFit/>
          </a:bodyPr>
          <a:lstStyle/>
          <a:p>
            <a:pPr algn="l"/>
            <a:r>
              <a:rPr sz="1000" b="0" i="0">
                <a:solidFill>
                  <a:srgbClr val="8A7585"/>
                </a:solidFill>
                <a:latin typeface="Calibri"/>
              </a:rPr>
              <a:t>Who buys</a:t>
            </a:r>
          </a:p>
        </p:txBody>
      </p:sp>
      <p:sp>
        <p:nvSpPr>
          <p:cNvPr id="22" name="TextBox 21"/>
          <p:cNvSpPr txBox="1"/>
          <p:nvPr/>
        </p:nvSpPr>
        <p:spPr>
          <a:xfrm>
            <a:off x="2377440" y="3877056"/>
            <a:ext cx="3977640" cy="347472"/>
          </a:xfrm>
          <a:prstGeom prst="rect">
            <a:avLst/>
          </a:prstGeom>
          <a:noFill/>
        </p:spPr>
        <p:txBody>
          <a:bodyPr wrap="square">
            <a:spAutoFit/>
          </a:bodyPr>
          <a:lstStyle/>
          <a:p>
            <a:pPr algn="l"/>
            <a:r>
              <a:rPr sz="1000" b="0" i="0">
                <a:solidFill>
                  <a:srgbClr val="4A2F47"/>
                </a:solidFill>
                <a:latin typeface="Calibri"/>
              </a:rPr>
              <a:t>The Spa Director, with a spa budget</a:t>
            </a:r>
          </a:p>
        </p:txBody>
      </p:sp>
      <p:sp>
        <p:nvSpPr>
          <p:cNvPr id="23" name="TextBox 22"/>
          <p:cNvSpPr txBox="1"/>
          <p:nvPr/>
        </p:nvSpPr>
        <p:spPr>
          <a:xfrm>
            <a:off x="6492240" y="3877056"/>
            <a:ext cx="4800600" cy="347472"/>
          </a:xfrm>
          <a:prstGeom prst="rect">
            <a:avLst/>
          </a:prstGeom>
          <a:noFill/>
        </p:spPr>
        <p:txBody>
          <a:bodyPr wrap="square">
            <a:spAutoFit/>
          </a:bodyPr>
          <a:lstStyle/>
          <a:p>
            <a:pPr algn="l"/>
            <a:r>
              <a:rPr sz="1000" b="0" i="0">
                <a:solidFill>
                  <a:srgbClr val="1A0918"/>
                </a:solidFill>
                <a:latin typeface="Calibri"/>
              </a:rPr>
              <a:t>The GM and CFO, with a hotel-wide budget</a:t>
            </a:r>
          </a:p>
        </p:txBody>
      </p:sp>
      <p:sp>
        <p:nvSpPr>
          <p:cNvPr id="24" name="Rectangle 23"/>
          <p:cNvSpPr/>
          <p:nvPr/>
        </p:nvSpPr>
        <p:spPr>
          <a:xfrm>
            <a:off x="822960" y="4242816"/>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4242816"/>
            <a:ext cx="10515600" cy="256032"/>
          </a:xfrm>
          <a:prstGeom prst="rect">
            <a:avLst/>
          </a:prstGeom>
          <a:solidFill>
            <a:srgbClr val="FCE8F2"/>
          </a:solidFill>
          <a:ln w="3175">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279392"/>
            <a:ext cx="10332720" cy="228600"/>
          </a:xfrm>
          <a:prstGeom prst="rect">
            <a:avLst/>
          </a:prstGeom>
          <a:noFill/>
        </p:spPr>
        <p:txBody>
          <a:bodyPr wrap="square">
            <a:spAutoFit/>
          </a:bodyPr>
          <a:lstStyle/>
          <a:p>
            <a:pPr algn="l"/>
            <a:r>
              <a:rPr sz="800" b="0" i="0">
                <a:solidFill>
                  <a:srgbClr val="E6007E"/>
                </a:solidFill>
                <a:latin typeface="Calibri"/>
              </a:rPr>
              <a:t>VALUE CAPTURE</a:t>
            </a:r>
          </a:p>
        </p:txBody>
      </p:sp>
      <p:sp>
        <p:nvSpPr>
          <p:cNvPr id="27" name="TextBox 26"/>
          <p:cNvSpPr txBox="1"/>
          <p:nvPr/>
        </p:nvSpPr>
        <p:spPr>
          <a:xfrm>
            <a:off x="914400" y="4535424"/>
            <a:ext cx="1325880" cy="347472"/>
          </a:xfrm>
          <a:prstGeom prst="rect">
            <a:avLst/>
          </a:prstGeom>
          <a:noFill/>
        </p:spPr>
        <p:txBody>
          <a:bodyPr wrap="square">
            <a:spAutoFit/>
          </a:bodyPr>
          <a:lstStyle/>
          <a:p>
            <a:pPr algn="l"/>
            <a:r>
              <a:rPr sz="1000" b="0" i="0">
                <a:solidFill>
                  <a:srgbClr val="8A7585"/>
                </a:solidFill>
                <a:latin typeface="Calibri"/>
              </a:rPr>
              <a:t>Revenue</a:t>
            </a:r>
          </a:p>
        </p:txBody>
      </p:sp>
      <p:sp>
        <p:nvSpPr>
          <p:cNvPr id="28" name="TextBox 27"/>
          <p:cNvSpPr txBox="1"/>
          <p:nvPr/>
        </p:nvSpPr>
        <p:spPr>
          <a:xfrm>
            <a:off x="2377440" y="4535424"/>
            <a:ext cx="3977640" cy="347472"/>
          </a:xfrm>
          <a:prstGeom prst="rect">
            <a:avLst/>
          </a:prstGeom>
          <a:noFill/>
        </p:spPr>
        <p:txBody>
          <a:bodyPr wrap="square">
            <a:spAutoFit/>
          </a:bodyPr>
          <a:lstStyle/>
          <a:p>
            <a:pPr algn="l"/>
            <a:r>
              <a:rPr sz="1000" b="0" i="0">
                <a:solidFill>
                  <a:srgbClr val="4A2F47"/>
                </a:solidFill>
                <a:latin typeface="Calibri"/>
              </a:rPr>
              <a:t>Modular subscription: Basic, Pro, Enterprise + small payments take rate</a:t>
            </a:r>
          </a:p>
        </p:txBody>
      </p:sp>
      <p:sp>
        <p:nvSpPr>
          <p:cNvPr id="29" name="TextBox 28"/>
          <p:cNvSpPr txBox="1"/>
          <p:nvPr/>
        </p:nvSpPr>
        <p:spPr>
          <a:xfrm>
            <a:off x="6492240" y="4535424"/>
            <a:ext cx="4800600" cy="347472"/>
          </a:xfrm>
          <a:prstGeom prst="rect">
            <a:avLst/>
          </a:prstGeom>
          <a:noFill/>
        </p:spPr>
        <p:txBody>
          <a:bodyPr wrap="square">
            <a:spAutoFit/>
          </a:bodyPr>
          <a:lstStyle/>
          <a:p>
            <a:pPr algn="l"/>
            <a:r>
              <a:rPr sz="1000" b="0" i="0">
                <a:solidFill>
                  <a:srgbClr val="1A0918"/>
                </a:solidFill>
                <a:latin typeface="Calibri"/>
              </a:rPr>
              <a:t>Multi-module subscriptions, payments take rate, AI features; growing automatically as customers deepen use</a:t>
            </a:r>
          </a:p>
        </p:txBody>
      </p:sp>
      <p:sp>
        <p:nvSpPr>
          <p:cNvPr id="30" name="Rectangle 29"/>
          <p:cNvSpPr/>
          <p:nvPr/>
        </p:nvSpPr>
        <p:spPr>
          <a:xfrm>
            <a:off x="822960" y="4901184"/>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37760"/>
            <a:ext cx="1325880" cy="347472"/>
          </a:xfrm>
          <a:prstGeom prst="rect">
            <a:avLst/>
          </a:prstGeom>
          <a:noFill/>
        </p:spPr>
        <p:txBody>
          <a:bodyPr wrap="square">
            <a:spAutoFit/>
          </a:bodyPr>
          <a:lstStyle/>
          <a:p>
            <a:pPr algn="l"/>
            <a:r>
              <a:rPr sz="1000" b="0" i="0">
                <a:solidFill>
                  <a:srgbClr val="8A7585"/>
                </a:solidFill>
                <a:latin typeface="Calibri"/>
              </a:rPr>
              <a:t>Lock-in</a:t>
            </a:r>
          </a:p>
        </p:txBody>
      </p:sp>
      <p:sp>
        <p:nvSpPr>
          <p:cNvPr id="32" name="TextBox 31"/>
          <p:cNvSpPr txBox="1"/>
          <p:nvPr/>
        </p:nvSpPr>
        <p:spPr>
          <a:xfrm>
            <a:off x="2377440" y="4937760"/>
            <a:ext cx="3977640" cy="347472"/>
          </a:xfrm>
          <a:prstGeom prst="rect">
            <a:avLst/>
          </a:prstGeom>
          <a:noFill/>
        </p:spPr>
        <p:txBody>
          <a:bodyPr wrap="square">
            <a:spAutoFit/>
          </a:bodyPr>
          <a:lstStyle/>
          <a:p>
            <a:pPr algn="l"/>
            <a:r>
              <a:rPr sz="1000" b="0" i="0">
                <a:solidFill>
                  <a:srgbClr val="4A2F47"/>
                </a:solidFill>
                <a:latin typeface="Calibri"/>
              </a:rPr>
              <a:t>Once installed, leaving means reconfiguring every treatment and moving years of data.</a:t>
            </a:r>
          </a:p>
        </p:txBody>
      </p:sp>
      <p:sp>
        <p:nvSpPr>
          <p:cNvPr id="33" name="TextBox 32"/>
          <p:cNvSpPr txBox="1"/>
          <p:nvPr/>
        </p:nvSpPr>
        <p:spPr>
          <a:xfrm>
            <a:off x="6492240" y="4937760"/>
            <a:ext cx="4800600" cy="347472"/>
          </a:xfrm>
          <a:prstGeom prst="rect">
            <a:avLst/>
          </a:prstGeom>
          <a:noFill/>
        </p:spPr>
        <p:txBody>
          <a:bodyPr wrap="square">
            <a:spAutoFit/>
          </a:bodyPr>
          <a:lstStyle/>
          <a:p>
            <a:pPr algn="l"/>
            <a:r>
              <a:rPr sz="1000" b="0" i="0">
                <a:solidFill>
                  <a:srgbClr val="1A0918"/>
                </a:solidFill>
                <a:latin typeface="Calibri"/>
              </a:rPr>
              <a:t>The same friction, spanning far more of the hotel. Replacing Trybe means replacing the software underneath most of the hotel's revenue.</a:t>
            </a:r>
          </a:p>
        </p:txBody>
      </p:sp>
      <p:sp>
        <p:nvSpPr>
          <p:cNvPr id="34" name="Rectangle 33"/>
          <p:cNvSpPr/>
          <p:nvPr/>
        </p:nvSpPr>
        <p:spPr>
          <a:xfrm>
            <a:off x="822960" y="5303520"/>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340096"/>
            <a:ext cx="1325880" cy="347472"/>
          </a:xfrm>
          <a:prstGeom prst="rect">
            <a:avLst/>
          </a:prstGeom>
          <a:noFill/>
        </p:spPr>
        <p:txBody>
          <a:bodyPr wrap="square">
            <a:spAutoFit/>
          </a:bodyPr>
          <a:lstStyle/>
          <a:p>
            <a:pPr algn="l"/>
            <a:r>
              <a:rPr sz="1000" b="0" i="0">
                <a:solidFill>
                  <a:srgbClr val="8A7585"/>
                </a:solidFill>
                <a:latin typeface="Calibri"/>
              </a:rPr>
              <a:t>Moat</a:t>
            </a:r>
          </a:p>
        </p:txBody>
      </p:sp>
      <p:sp>
        <p:nvSpPr>
          <p:cNvPr id="36" name="TextBox 35"/>
          <p:cNvSpPr txBox="1"/>
          <p:nvPr/>
        </p:nvSpPr>
        <p:spPr>
          <a:xfrm>
            <a:off x="2377440" y="5340096"/>
            <a:ext cx="3977640" cy="347472"/>
          </a:xfrm>
          <a:prstGeom prst="rect">
            <a:avLst/>
          </a:prstGeom>
          <a:noFill/>
        </p:spPr>
        <p:txBody>
          <a:bodyPr wrap="square">
            <a:spAutoFit/>
          </a:bodyPr>
          <a:lstStyle/>
          <a:p>
            <a:pPr algn="l"/>
            <a:r>
              <a:rPr sz="1000" b="0" i="0">
                <a:solidFill>
                  <a:srgbClr val="4A2F47"/>
                </a:solidFill>
                <a:latin typeface="Calibri"/>
              </a:rPr>
              <a:t>Works for the spa. Doesn't extend further.</a:t>
            </a:r>
          </a:p>
        </p:txBody>
      </p:sp>
      <p:sp>
        <p:nvSpPr>
          <p:cNvPr id="37" name="TextBox 36"/>
          <p:cNvSpPr txBox="1"/>
          <p:nvPr/>
        </p:nvSpPr>
        <p:spPr>
          <a:xfrm>
            <a:off x="6492240" y="5340096"/>
            <a:ext cx="4800600" cy="347472"/>
          </a:xfrm>
          <a:prstGeom prst="rect">
            <a:avLst/>
          </a:prstGeom>
          <a:noFill/>
        </p:spPr>
        <p:txBody>
          <a:bodyPr wrap="square">
            <a:spAutoFit/>
          </a:bodyPr>
          <a:lstStyle/>
          <a:p>
            <a:pPr algn="l"/>
            <a:r>
              <a:rPr sz="1000" b="0" i="0">
                <a:solidFill>
                  <a:srgbClr val="1A0918"/>
                </a:solidFill>
                <a:latin typeface="Calibri"/>
              </a:rPr>
              <a:t>Structural. Payments lock-in deepens with volume. AI compounds with data.</a:t>
            </a:r>
          </a:p>
        </p:txBody>
      </p:sp>
      <p:sp>
        <p:nvSpPr>
          <p:cNvPr id="38" name="Rectangle 37"/>
          <p:cNvSpPr/>
          <p:nvPr/>
        </p:nvSpPr>
        <p:spPr>
          <a:xfrm>
            <a:off x="822960" y="5705856"/>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742432"/>
            <a:ext cx="1325880" cy="347472"/>
          </a:xfrm>
          <a:prstGeom prst="rect">
            <a:avLst/>
          </a:prstGeom>
          <a:noFill/>
        </p:spPr>
        <p:txBody>
          <a:bodyPr wrap="square">
            <a:spAutoFit/>
          </a:bodyPr>
          <a:lstStyle/>
          <a:p>
            <a:pPr algn="l"/>
            <a:r>
              <a:rPr sz="1000" b="0" i="0">
                <a:solidFill>
                  <a:srgbClr val="8A7585"/>
                </a:solidFill>
                <a:latin typeface="Calibri"/>
              </a:rPr>
              <a:t>Commercial</a:t>
            </a:r>
          </a:p>
        </p:txBody>
      </p:sp>
      <p:sp>
        <p:nvSpPr>
          <p:cNvPr id="40" name="TextBox 39"/>
          <p:cNvSpPr txBox="1"/>
          <p:nvPr/>
        </p:nvSpPr>
        <p:spPr>
          <a:xfrm>
            <a:off x="2377440" y="5742432"/>
            <a:ext cx="3977640" cy="347472"/>
          </a:xfrm>
          <a:prstGeom prst="rect">
            <a:avLst/>
          </a:prstGeom>
          <a:noFill/>
        </p:spPr>
        <p:txBody>
          <a:bodyPr wrap="square">
            <a:spAutoFit/>
          </a:bodyPr>
          <a:lstStyle/>
          <a:p>
            <a:pPr algn="l"/>
            <a:r>
              <a:rPr sz="1000" b="0" i="0">
                <a:solidFill>
                  <a:srgbClr val="4A2F47"/>
                </a:solidFill>
                <a:latin typeface="Calibri"/>
              </a:rPr>
              <a:t>Under-priced relative to value created</a:t>
            </a:r>
          </a:p>
        </p:txBody>
      </p:sp>
      <p:sp>
        <p:nvSpPr>
          <p:cNvPr id="41" name="TextBox 40"/>
          <p:cNvSpPr txBox="1"/>
          <p:nvPr/>
        </p:nvSpPr>
        <p:spPr>
          <a:xfrm>
            <a:off x="6492240" y="5742432"/>
            <a:ext cx="4800600" cy="347472"/>
          </a:xfrm>
          <a:prstGeom prst="rect">
            <a:avLst/>
          </a:prstGeom>
          <a:noFill/>
        </p:spPr>
        <p:txBody>
          <a:bodyPr wrap="square">
            <a:spAutoFit/>
          </a:bodyPr>
          <a:lstStyle/>
          <a:p>
            <a:pPr algn="l"/>
            <a:r>
              <a:rPr sz="1000" b="0" i="0">
                <a:solidFill>
                  <a:srgbClr val="1A0918"/>
                </a:solidFill>
                <a:latin typeface="Calibri"/>
              </a:rPr>
              <a:t>Captures the share of value that category-defining platforms earn</a:t>
            </a:r>
          </a:p>
        </p:txBody>
      </p:sp>
      <p:sp>
        <p:nvSpPr>
          <p:cNvPr id="42" name="Rectangle 41"/>
          <p:cNvSpPr/>
          <p:nvPr/>
        </p:nvSpPr>
        <p:spPr>
          <a:xfrm>
            <a:off x="822960" y="6108192"/>
            <a:ext cx="10515600" cy="5000"/>
          </a:xfrm>
          <a:prstGeom prst="rect">
            <a:avLst/>
          </a:prstGeom>
          <a:solidFill>
            <a:srgbClr val="E0D5C8"/>
          </a:solidFill>
          <a:ln w="500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03 · Strategic priorities — ranked</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Ranked strategic analysis — not balanced</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What actually decides the pivot.</a:t>
            </a:r>
          </a:p>
        </p:txBody>
      </p:sp>
      <p:sp>
        <p:nvSpPr>
          <p:cNvPr id="6" name="TextBox 5"/>
          <p:cNvSpPr txBox="1"/>
          <p:nvPr/>
        </p:nvSpPr>
        <p:spPr>
          <a:xfrm>
            <a:off x="822960" y="1920240"/>
            <a:ext cx="10515600" cy="228600"/>
          </a:xfrm>
          <a:prstGeom prst="rect">
            <a:avLst/>
          </a:prstGeom>
          <a:noFill/>
        </p:spPr>
        <p:txBody>
          <a:bodyPr wrap="square">
            <a:spAutoFit/>
          </a:bodyPr>
          <a:lstStyle/>
          <a:p>
            <a:pPr algn="l"/>
            <a:r>
              <a:rPr sz="900" b="0" i="0">
                <a:solidFill>
                  <a:srgbClr val="4A2F47"/>
                </a:solidFill>
                <a:latin typeface="Calibri"/>
              </a:rPr>
              <a:t>The two determinants — where 80% of the outcome lives</a:t>
            </a:r>
          </a:p>
        </p:txBody>
      </p:sp>
      <p:sp>
        <p:nvSpPr>
          <p:cNvPr id="7" name="Rectangle 6"/>
          <p:cNvSpPr/>
          <p:nvPr/>
        </p:nvSpPr>
        <p:spPr>
          <a:xfrm>
            <a:off x="822960" y="2194560"/>
            <a:ext cx="5166360" cy="173736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1371600" cy="381000"/>
          </a:xfrm>
          <a:prstGeom prst="rect">
            <a:avLst/>
          </a:prstGeom>
          <a:noFill/>
        </p:spPr>
        <p:txBody>
          <a:bodyPr wrap="square">
            <a:spAutoFit/>
          </a:bodyPr>
          <a:lstStyle/>
          <a:p>
            <a:pPr algn="l"/>
            <a:r>
              <a:rPr sz="2200" b="0" i="0">
                <a:solidFill>
                  <a:srgbClr val="E6007E"/>
                </a:solidFill>
                <a:latin typeface="Calibri"/>
              </a:rPr>
              <a:t>01</a:t>
            </a:r>
          </a:p>
        </p:txBody>
      </p:sp>
      <p:sp>
        <p:nvSpPr>
          <p:cNvPr id="9" name="TextBox 8"/>
          <p:cNvSpPr txBox="1"/>
          <p:nvPr/>
        </p:nvSpPr>
        <p:spPr>
          <a:xfrm>
            <a:off x="914400" y="2578608"/>
            <a:ext cx="2286000" cy="228600"/>
          </a:xfrm>
          <a:prstGeom prst="rect">
            <a:avLst/>
          </a:prstGeom>
          <a:noFill/>
        </p:spPr>
        <p:txBody>
          <a:bodyPr wrap="square">
            <a:spAutoFit/>
          </a:bodyPr>
          <a:lstStyle/>
          <a:p>
            <a:pPr algn="l"/>
            <a:r>
              <a:rPr sz="800" b="0" i="0">
                <a:solidFill>
                  <a:srgbClr val="E6007E"/>
                </a:solidFill>
                <a:latin typeface="Calibri"/>
              </a:rPr>
              <a:t>[THREAT]</a:t>
            </a:r>
          </a:p>
        </p:txBody>
      </p:sp>
      <p:sp>
        <p:nvSpPr>
          <p:cNvPr id="10" name="TextBox 9"/>
          <p:cNvSpPr txBox="1"/>
          <p:nvPr/>
        </p:nvSpPr>
        <p:spPr>
          <a:xfrm>
            <a:off x="914400" y="2743200"/>
            <a:ext cx="4846320" cy="457200"/>
          </a:xfrm>
          <a:prstGeom prst="rect">
            <a:avLst/>
          </a:prstGeom>
          <a:noFill/>
        </p:spPr>
        <p:txBody>
          <a:bodyPr wrap="square">
            <a:spAutoFit/>
          </a:bodyPr>
          <a:lstStyle/>
          <a:p>
            <a:pPr algn="l"/>
            <a:r>
              <a:rPr sz="1100" b="0" i="0">
                <a:solidFill>
                  <a:srgbClr val="1A0918"/>
                </a:solidFill>
                <a:latin typeface="Calibri"/>
              </a:rPr>
              <a:t>Whether Mews defines the platform layer of hospitality before Trybe does.</a:t>
            </a:r>
          </a:p>
        </p:txBody>
      </p:sp>
      <p:sp>
        <p:nvSpPr>
          <p:cNvPr id="11" name="TextBox 10"/>
          <p:cNvSpPr txBox="1"/>
          <p:nvPr/>
        </p:nvSpPr>
        <p:spPr>
          <a:xfrm>
            <a:off x="914400" y="3154680"/>
            <a:ext cx="4846320" cy="548640"/>
          </a:xfrm>
          <a:prstGeom prst="rect">
            <a:avLst/>
          </a:prstGeom>
          <a:noFill/>
        </p:spPr>
        <p:txBody>
          <a:bodyPr wrap="square">
            <a:spAutoFit/>
          </a:bodyPr>
          <a:lstStyle/>
          <a:p>
            <a:pPr algn="l"/>
            <a:r>
              <a:rPr sz="1000" b="0" i="0">
                <a:solidFill>
                  <a:srgbClr val="4A2F47"/>
                </a:solidFill>
                <a:latin typeface="Calibri"/>
              </a:rPr>
              <a:t>Mews has scale and capital. Trybe has cloud-native architecture and the challenger story. If Mews ships native experience inventory first, Trybe becomes a feature inside Mews's platform.</a:t>
            </a:r>
          </a:p>
        </p:txBody>
      </p:sp>
      <p:sp>
        <p:nvSpPr>
          <p:cNvPr id="12" name="Rectangle 11"/>
          <p:cNvSpPr/>
          <p:nvPr/>
        </p:nvSpPr>
        <p:spPr>
          <a:xfrm>
            <a:off x="6126480" y="2194560"/>
            <a:ext cx="5166360" cy="173736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286000"/>
            <a:ext cx="1371600" cy="381000"/>
          </a:xfrm>
          <a:prstGeom prst="rect">
            <a:avLst/>
          </a:prstGeom>
          <a:noFill/>
        </p:spPr>
        <p:txBody>
          <a:bodyPr wrap="square">
            <a:spAutoFit/>
          </a:bodyPr>
          <a:lstStyle/>
          <a:p>
            <a:pPr algn="l"/>
            <a:r>
              <a:rPr sz="2200" b="0" i="0">
                <a:solidFill>
                  <a:srgbClr val="E6007E"/>
                </a:solidFill>
                <a:latin typeface="Calibri"/>
              </a:rPr>
              <a:t>02</a:t>
            </a:r>
          </a:p>
        </p:txBody>
      </p:sp>
      <p:sp>
        <p:nvSpPr>
          <p:cNvPr id="14" name="TextBox 13"/>
          <p:cNvSpPr txBox="1"/>
          <p:nvPr/>
        </p:nvSpPr>
        <p:spPr>
          <a:xfrm>
            <a:off x="6217920" y="2578608"/>
            <a:ext cx="2286000" cy="228600"/>
          </a:xfrm>
          <a:prstGeom prst="rect">
            <a:avLst/>
          </a:prstGeom>
          <a:noFill/>
        </p:spPr>
        <p:txBody>
          <a:bodyPr wrap="square">
            <a:spAutoFit/>
          </a:bodyPr>
          <a:lstStyle/>
          <a:p>
            <a:pPr algn="l"/>
            <a:r>
              <a:rPr sz="800" b="0" i="0">
                <a:solidFill>
                  <a:srgbClr val="E6007E"/>
                </a:solidFill>
                <a:latin typeface="Calibri"/>
              </a:rPr>
              <a:t>[WEAKNESS]</a:t>
            </a:r>
          </a:p>
        </p:txBody>
      </p:sp>
      <p:sp>
        <p:nvSpPr>
          <p:cNvPr id="15" name="TextBox 14"/>
          <p:cNvSpPr txBox="1"/>
          <p:nvPr/>
        </p:nvSpPr>
        <p:spPr>
          <a:xfrm>
            <a:off x="6217920" y="2743200"/>
            <a:ext cx="4846320" cy="457200"/>
          </a:xfrm>
          <a:prstGeom prst="rect">
            <a:avLst/>
          </a:prstGeom>
          <a:noFill/>
        </p:spPr>
        <p:txBody>
          <a:bodyPr wrap="square">
            <a:spAutoFit/>
          </a:bodyPr>
          <a:lstStyle/>
          <a:p>
            <a:pPr algn="l"/>
            <a:r>
              <a:rPr sz="1100" b="0" i="0">
                <a:solidFill>
                  <a:srgbClr val="1A0918"/>
                </a:solidFill>
                <a:latin typeface="Calibri"/>
              </a:rPr>
              <a:t>Whether the new senior team performs as a unit within 12 months.</a:t>
            </a:r>
          </a:p>
        </p:txBody>
      </p:sp>
      <p:sp>
        <p:nvSpPr>
          <p:cNvPr id="16" name="TextBox 15"/>
          <p:cNvSpPr txBox="1"/>
          <p:nvPr/>
        </p:nvSpPr>
        <p:spPr>
          <a:xfrm>
            <a:off x="6217920" y="3154680"/>
            <a:ext cx="4846320" cy="548640"/>
          </a:xfrm>
          <a:prstGeom prst="rect">
            <a:avLst/>
          </a:prstGeom>
          <a:noFill/>
        </p:spPr>
        <p:txBody>
          <a:bodyPr wrap="square">
            <a:spAutoFit/>
          </a:bodyPr>
          <a:lstStyle/>
          <a:p>
            <a:pPr algn="l"/>
            <a:r>
              <a:rPr sz="1000" b="0" i="0">
                <a:solidFill>
                  <a:srgbClr val="4A2F47"/>
                </a:solidFill>
                <a:latin typeface="Calibri"/>
              </a:rPr>
              <a:t>The senior layer is being assembled in real time. If they integrate and perform fast, everything else is solvable. If they don't, no strategy compensates.</a:t>
            </a:r>
          </a:p>
        </p:txBody>
      </p:sp>
      <p:sp>
        <p:nvSpPr>
          <p:cNvPr id="17" name="TextBox 16"/>
          <p:cNvSpPr txBox="1"/>
          <p:nvPr/>
        </p:nvSpPr>
        <p:spPr>
          <a:xfrm>
            <a:off x="822960" y="4069080"/>
            <a:ext cx="10515600" cy="228600"/>
          </a:xfrm>
          <a:prstGeom prst="rect">
            <a:avLst/>
          </a:prstGeom>
          <a:noFill/>
        </p:spPr>
        <p:txBody>
          <a:bodyPr wrap="square">
            <a:spAutoFit/>
          </a:bodyPr>
          <a:lstStyle/>
          <a:p>
            <a:pPr algn="l"/>
            <a:r>
              <a:rPr sz="900" b="0" i="0">
                <a:solidFill>
                  <a:srgbClr val="4A2F47"/>
                </a:solidFill>
                <a:latin typeface="Calibri"/>
              </a:rPr>
              <a:t>Three variables that look secondary but aren't</a:t>
            </a:r>
          </a:p>
        </p:txBody>
      </p:sp>
      <p:sp>
        <p:nvSpPr>
          <p:cNvPr id="18" name="Rectangle 17"/>
          <p:cNvSpPr/>
          <p:nvPr/>
        </p:nvSpPr>
        <p:spPr>
          <a:xfrm>
            <a:off x="822960" y="4297680"/>
            <a:ext cx="3401568" cy="14630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370832"/>
            <a:ext cx="3200400" cy="228600"/>
          </a:xfrm>
          <a:prstGeom prst="rect">
            <a:avLst/>
          </a:prstGeom>
          <a:noFill/>
        </p:spPr>
        <p:txBody>
          <a:bodyPr wrap="square">
            <a:spAutoFit/>
          </a:bodyPr>
          <a:lstStyle/>
          <a:p>
            <a:pPr algn="l"/>
            <a:r>
              <a:rPr sz="800" b="0" i="0">
                <a:solidFill>
                  <a:srgbClr val="8A7585"/>
                </a:solidFill>
                <a:latin typeface="Calibri"/>
              </a:rPr>
              <a:t>[Weakness / Threat]</a:t>
            </a:r>
          </a:p>
        </p:txBody>
      </p:sp>
      <p:sp>
        <p:nvSpPr>
          <p:cNvPr id="20" name="TextBox 19"/>
          <p:cNvSpPr txBox="1"/>
          <p:nvPr/>
        </p:nvSpPr>
        <p:spPr>
          <a:xfrm>
            <a:off x="960120" y="4553712"/>
            <a:ext cx="3200400" cy="254000"/>
          </a:xfrm>
          <a:prstGeom prst="rect">
            <a:avLst/>
          </a:prstGeom>
          <a:noFill/>
        </p:spPr>
        <p:txBody>
          <a:bodyPr wrap="square">
            <a:spAutoFit/>
          </a:bodyPr>
          <a:lstStyle/>
          <a:p>
            <a:pPr algn="l"/>
            <a:r>
              <a:rPr sz="1100" b="1" i="0">
                <a:solidFill>
                  <a:srgbClr val="1A0918"/>
                </a:solidFill>
                <a:latin typeface="Calibri"/>
              </a:rPr>
              <a:t>Brand category-association</a:t>
            </a:r>
          </a:p>
        </p:txBody>
      </p:sp>
      <p:sp>
        <p:nvSpPr>
          <p:cNvPr id="21" name="TextBox 20"/>
          <p:cNvSpPr txBox="1"/>
          <p:nvPr/>
        </p:nvSpPr>
        <p:spPr>
          <a:xfrm>
            <a:off x="960120" y="4773168"/>
            <a:ext cx="3200400" cy="822960"/>
          </a:xfrm>
          <a:prstGeom prst="rect">
            <a:avLst/>
          </a:prstGeom>
          <a:noFill/>
        </p:spPr>
        <p:txBody>
          <a:bodyPr wrap="square">
            <a:spAutoFit/>
          </a:bodyPr>
          <a:lstStyle/>
          <a:p>
            <a:pPr algn="l"/>
            <a:r>
              <a:rPr sz="1000" b="0" i="0">
                <a:solidFill>
                  <a:srgbClr val="4A2F47"/>
                </a:solidFill>
                <a:latin typeface="Calibri"/>
              </a:rPr>
              <a:t>A perception problem that takes 18–24 months. Today buyers associate Trybe with 'spa software.' The pivot requires displacing that with 'experience platform.'</a:t>
            </a:r>
          </a:p>
        </p:txBody>
      </p:sp>
      <p:sp>
        <p:nvSpPr>
          <p:cNvPr id="22" name="Rectangle 21"/>
          <p:cNvSpPr/>
          <p:nvPr/>
        </p:nvSpPr>
        <p:spPr>
          <a:xfrm>
            <a:off x="4343400" y="4297680"/>
            <a:ext cx="3401568" cy="14630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4370832"/>
            <a:ext cx="3200400" cy="228600"/>
          </a:xfrm>
          <a:prstGeom prst="rect">
            <a:avLst/>
          </a:prstGeom>
          <a:noFill/>
        </p:spPr>
        <p:txBody>
          <a:bodyPr wrap="square">
            <a:spAutoFit/>
          </a:bodyPr>
          <a:lstStyle/>
          <a:p>
            <a:pPr algn="l"/>
            <a:r>
              <a:rPr sz="800" b="0" i="0">
                <a:solidFill>
                  <a:srgbClr val="8A7585"/>
                </a:solidFill>
                <a:latin typeface="Calibri"/>
              </a:rPr>
              <a:t>[Strength / Opportunity]</a:t>
            </a:r>
          </a:p>
        </p:txBody>
      </p:sp>
      <p:sp>
        <p:nvSpPr>
          <p:cNvPr id="24" name="TextBox 23"/>
          <p:cNvSpPr txBox="1"/>
          <p:nvPr/>
        </p:nvSpPr>
        <p:spPr>
          <a:xfrm>
            <a:off x="4480560" y="4553712"/>
            <a:ext cx="3200400" cy="254000"/>
          </a:xfrm>
          <a:prstGeom prst="rect">
            <a:avLst/>
          </a:prstGeom>
          <a:noFill/>
        </p:spPr>
        <p:txBody>
          <a:bodyPr wrap="square">
            <a:spAutoFit/>
          </a:bodyPr>
          <a:lstStyle/>
          <a:p>
            <a:pPr algn="l"/>
            <a:r>
              <a:rPr sz="1100" b="1" i="0">
                <a:solidFill>
                  <a:srgbClr val="1A0918"/>
                </a:solidFill>
                <a:latin typeface="Calibri"/>
              </a:rPr>
              <a:t>The Carden Park story</a:t>
            </a:r>
          </a:p>
        </p:txBody>
      </p:sp>
      <p:sp>
        <p:nvSpPr>
          <p:cNvPr id="25" name="TextBox 24"/>
          <p:cNvSpPr txBox="1"/>
          <p:nvPr/>
        </p:nvSpPr>
        <p:spPr>
          <a:xfrm>
            <a:off x="4480560" y="4773168"/>
            <a:ext cx="3200400" cy="822960"/>
          </a:xfrm>
          <a:prstGeom prst="rect">
            <a:avLst/>
          </a:prstGeom>
          <a:noFill/>
        </p:spPr>
        <p:txBody>
          <a:bodyPr wrap="square">
            <a:spAutoFit/>
          </a:bodyPr>
          <a:lstStyle/>
          <a:p>
            <a:pPr algn="l"/>
            <a:r>
              <a:rPr sz="1000" b="0" i="0">
                <a:solidFill>
                  <a:srgbClr val="4A2F47"/>
                </a:solidFill>
                <a:latin typeface="Calibri"/>
              </a:rPr>
              <a:t>A 1,500% revenue uplift for a single customer is the most under-leveraged asset Trybe has. The work: turning it into the canonical reference point for the category.</a:t>
            </a:r>
          </a:p>
        </p:txBody>
      </p:sp>
      <p:sp>
        <p:nvSpPr>
          <p:cNvPr id="26" name="Rectangle 25"/>
          <p:cNvSpPr/>
          <p:nvPr/>
        </p:nvSpPr>
        <p:spPr>
          <a:xfrm>
            <a:off x="7863840" y="4297680"/>
            <a:ext cx="3401568" cy="14630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4370832"/>
            <a:ext cx="3200400" cy="228600"/>
          </a:xfrm>
          <a:prstGeom prst="rect">
            <a:avLst/>
          </a:prstGeom>
          <a:noFill/>
        </p:spPr>
        <p:txBody>
          <a:bodyPr wrap="square">
            <a:spAutoFit/>
          </a:bodyPr>
          <a:lstStyle/>
          <a:p>
            <a:pPr algn="l"/>
            <a:r>
              <a:rPr sz="800" b="0" i="0">
                <a:solidFill>
                  <a:srgbClr val="8A7585"/>
                </a:solidFill>
                <a:latin typeface="Calibri"/>
              </a:rPr>
              <a:t>[Opportunity]</a:t>
            </a:r>
          </a:p>
        </p:txBody>
      </p:sp>
      <p:sp>
        <p:nvSpPr>
          <p:cNvPr id="28" name="TextBox 27"/>
          <p:cNvSpPr txBox="1"/>
          <p:nvPr/>
        </p:nvSpPr>
        <p:spPr>
          <a:xfrm>
            <a:off x="8001000" y="4553712"/>
            <a:ext cx="3200400" cy="254000"/>
          </a:xfrm>
          <a:prstGeom prst="rect">
            <a:avLst/>
          </a:prstGeom>
          <a:noFill/>
        </p:spPr>
        <p:txBody>
          <a:bodyPr wrap="square">
            <a:spAutoFit/>
          </a:bodyPr>
          <a:lstStyle/>
          <a:p>
            <a:pPr algn="l"/>
            <a:r>
              <a:rPr sz="1100" b="1" i="0">
                <a:solidFill>
                  <a:srgbClr val="1A0918"/>
                </a:solidFill>
                <a:latin typeface="Calibri"/>
              </a:rPr>
              <a:t>The chain-wide deal</a:t>
            </a:r>
          </a:p>
        </p:txBody>
      </p:sp>
      <p:sp>
        <p:nvSpPr>
          <p:cNvPr id="29" name="TextBox 28"/>
          <p:cNvSpPr txBox="1"/>
          <p:nvPr/>
        </p:nvSpPr>
        <p:spPr>
          <a:xfrm>
            <a:off x="8001000" y="4773168"/>
            <a:ext cx="3200400" cy="822960"/>
          </a:xfrm>
          <a:prstGeom prst="rect">
            <a:avLst/>
          </a:prstGeom>
          <a:noFill/>
        </p:spPr>
        <p:txBody>
          <a:bodyPr wrap="square">
            <a:spAutoFit/>
          </a:bodyPr>
          <a:lstStyle/>
          <a:p>
            <a:pPr algn="l"/>
            <a:r>
              <a:rPr sz="1000" b="0" i="0">
                <a:solidFill>
                  <a:srgbClr val="4A2F47"/>
                </a:solidFill>
                <a:latin typeface="Calibri"/>
              </a:rPr>
              <a:t>Winning Marriott, Hilton or Hyatt isn't a single event — it's the moment everything starts compounding: validation, hiring quality, narrative authority, Series B valuation.</a:t>
            </a:r>
          </a:p>
        </p:txBody>
      </p:sp>
      <p:sp>
        <p:nvSpPr>
          <p:cNvPr id="30" name="Rectangle 29"/>
          <p:cNvSpPr/>
          <p:nvPr/>
        </p:nvSpPr>
        <p:spPr>
          <a:xfrm>
            <a:off x="822960" y="5897880"/>
            <a:ext cx="10515600" cy="64008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6007608"/>
            <a:ext cx="9144000" cy="304800"/>
          </a:xfrm>
          <a:prstGeom prst="rect">
            <a:avLst/>
          </a:prstGeom>
          <a:noFill/>
        </p:spPr>
        <p:txBody>
          <a:bodyPr wrap="square">
            <a:spAutoFit/>
          </a:bodyPr>
          <a:lstStyle/>
          <a:p>
            <a:pPr algn="l"/>
            <a:r>
              <a:rPr sz="1200" b="0" i="0">
                <a:solidFill>
                  <a:srgbClr val="1A0918"/>
                </a:solidFill>
                <a:latin typeface="Calibri"/>
              </a:rPr>
              <a:t>▶  Two things to get right. Three things to lean into. Everything else is the work, but not the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04 · Performance as the system</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The operating philosophy</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Performance is the system.</a:t>
            </a:r>
          </a:p>
        </p:txBody>
      </p:sp>
      <p:sp>
        <p:nvSpPr>
          <p:cNvPr id="6" name="TextBox 5"/>
          <p:cNvSpPr txBox="1"/>
          <p:nvPr/>
        </p:nvSpPr>
        <p:spPr>
          <a:xfrm>
            <a:off x="822960" y="1874519"/>
            <a:ext cx="10515600" cy="502920"/>
          </a:xfrm>
          <a:prstGeom prst="rect">
            <a:avLst/>
          </a:prstGeom>
          <a:noFill/>
        </p:spPr>
        <p:txBody>
          <a:bodyPr wrap="square">
            <a:spAutoFit/>
          </a:bodyPr>
          <a:lstStyle/>
          <a:p>
            <a:pPr algn="l"/>
            <a:r>
              <a:rPr sz="1300" b="0" i="0">
                <a:solidFill>
                  <a:srgbClr val="4A2F47"/>
                </a:solidFill>
                <a:latin typeface="Calibri"/>
              </a:rPr>
              <a:t>The pivot is principally an execution question. Execution is principally a people question. The people system must be designed around performance, not process.</a:t>
            </a:r>
          </a:p>
        </p:txBody>
      </p:sp>
      <p:sp>
        <p:nvSpPr>
          <p:cNvPr id="7" name="Rectangle 6"/>
          <p:cNvSpPr/>
          <p:nvPr/>
        </p:nvSpPr>
        <p:spPr>
          <a:xfrm>
            <a:off x="822960" y="2514600"/>
            <a:ext cx="5166360" cy="402336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51760"/>
            <a:ext cx="4846320" cy="304800"/>
          </a:xfrm>
          <a:prstGeom prst="rect">
            <a:avLst/>
          </a:prstGeom>
          <a:noFill/>
        </p:spPr>
        <p:txBody>
          <a:bodyPr wrap="square">
            <a:spAutoFit/>
          </a:bodyPr>
          <a:lstStyle/>
          <a:p>
            <a:pPr algn="l"/>
            <a:r>
              <a:rPr sz="1400" b="1" i="0">
                <a:solidFill>
                  <a:srgbClr val="1A0918"/>
                </a:solidFill>
                <a:latin typeface="Calibri"/>
              </a:rPr>
              <a:t>The problem with traditional HR</a:t>
            </a:r>
          </a:p>
        </p:txBody>
      </p:sp>
      <p:sp>
        <p:nvSpPr>
          <p:cNvPr id="9" name="TextBox 8"/>
          <p:cNvSpPr txBox="1"/>
          <p:nvPr/>
        </p:nvSpPr>
        <p:spPr>
          <a:xfrm>
            <a:off x="960120" y="2926080"/>
            <a:ext cx="4846320" cy="3200400"/>
          </a:xfrm>
          <a:prstGeom prst="rect">
            <a:avLst/>
          </a:prstGeom>
          <a:noFill/>
        </p:spPr>
        <p:txBody>
          <a:bodyPr wrap="square">
            <a:spAutoFit/>
          </a:bodyPr>
          <a:lstStyle/>
          <a:p>
            <a:pPr algn="l"/>
            <a:r>
              <a:rPr sz="1200" b="0" i="0">
                <a:solidFill>
                  <a:srgbClr val="4A2F47"/>
                </a:solidFill>
                <a:latin typeface="Calibri"/>
              </a:rPr>
              <a:t>Most People functions treat the lifecycle — recruit, onboard, perform, develop, retain, exit — as the operating model. Each element managed in isolation. Activity confused with progress. Over-engineered for compliance.
The result: false momentum, no learning, no performance lift.
The Trybe operating system inverts this. Performance is the core. The HR lifecycle exists to build capability and drive output — not the other way around.</a:t>
            </a:r>
          </a:p>
        </p:txBody>
      </p:sp>
      <p:sp>
        <p:nvSpPr>
          <p:cNvPr id="10" name="Rectangle 9"/>
          <p:cNvSpPr/>
          <p:nvPr/>
        </p:nvSpPr>
        <p:spPr>
          <a:xfrm>
            <a:off x="6126480" y="2514600"/>
            <a:ext cx="5166360" cy="402336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651760"/>
            <a:ext cx="4846320" cy="304800"/>
          </a:xfrm>
          <a:prstGeom prst="rect">
            <a:avLst/>
          </a:prstGeom>
          <a:noFill/>
        </p:spPr>
        <p:txBody>
          <a:bodyPr wrap="square">
            <a:spAutoFit/>
          </a:bodyPr>
          <a:lstStyle/>
          <a:p>
            <a:pPr algn="l"/>
            <a:r>
              <a:rPr sz="1400" b="1" i="0">
                <a:solidFill>
                  <a:srgbClr val="1A0918"/>
                </a:solidFill>
                <a:latin typeface="Calibri"/>
              </a:rPr>
              <a:t>Operating principles</a:t>
            </a:r>
          </a:p>
        </p:txBody>
      </p:sp>
      <p:sp>
        <p:nvSpPr>
          <p:cNvPr id="12" name="TextBox 11"/>
          <p:cNvSpPr txBox="1"/>
          <p:nvPr/>
        </p:nvSpPr>
        <p:spPr>
          <a:xfrm>
            <a:off x="6263640" y="2944368"/>
            <a:ext cx="365760" cy="254000"/>
          </a:xfrm>
          <a:prstGeom prst="rect">
            <a:avLst/>
          </a:prstGeom>
          <a:noFill/>
        </p:spPr>
        <p:txBody>
          <a:bodyPr wrap="square">
            <a:spAutoFit/>
          </a:bodyPr>
          <a:lstStyle/>
          <a:p>
            <a:pPr algn="l"/>
            <a:r>
              <a:rPr sz="900" b="0" i="0">
                <a:solidFill>
                  <a:srgbClr val="E6007E"/>
                </a:solidFill>
                <a:latin typeface="Calibri"/>
              </a:rPr>
              <a:t>01</a:t>
            </a:r>
          </a:p>
        </p:txBody>
      </p:sp>
      <p:sp>
        <p:nvSpPr>
          <p:cNvPr id="13" name="TextBox 12"/>
          <p:cNvSpPr txBox="1"/>
          <p:nvPr/>
        </p:nvSpPr>
        <p:spPr>
          <a:xfrm>
            <a:off x="6583680" y="2944368"/>
            <a:ext cx="4572000" cy="254000"/>
          </a:xfrm>
          <a:prstGeom prst="rect">
            <a:avLst/>
          </a:prstGeom>
          <a:noFill/>
        </p:spPr>
        <p:txBody>
          <a:bodyPr wrap="square">
            <a:spAutoFit/>
          </a:bodyPr>
          <a:lstStyle/>
          <a:p>
            <a:pPr algn="l"/>
            <a:r>
              <a:rPr sz="1200" b="0" i="0">
                <a:solidFill>
                  <a:srgbClr val="1A0918"/>
                </a:solidFill>
                <a:latin typeface="Calibri"/>
              </a:rPr>
              <a:t>We don't scale with headcount. We scale with performance.</a:t>
            </a:r>
          </a:p>
        </p:txBody>
      </p:sp>
      <p:sp>
        <p:nvSpPr>
          <p:cNvPr id="14" name="TextBox 13"/>
          <p:cNvSpPr txBox="1"/>
          <p:nvPr/>
        </p:nvSpPr>
        <p:spPr>
          <a:xfrm>
            <a:off x="6263640" y="3493008"/>
            <a:ext cx="365760" cy="254000"/>
          </a:xfrm>
          <a:prstGeom prst="rect">
            <a:avLst/>
          </a:prstGeom>
          <a:noFill/>
        </p:spPr>
        <p:txBody>
          <a:bodyPr wrap="square">
            <a:spAutoFit/>
          </a:bodyPr>
          <a:lstStyle/>
          <a:p>
            <a:pPr algn="l"/>
            <a:r>
              <a:rPr sz="900" b="0" i="0">
                <a:solidFill>
                  <a:srgbClr val="E6007E"/>
                </a:solidFill>
                <a:latin typeface="Calibri"/>
              </a:rPr>
              <a:t>02</a:t>
            </a:r>
          </a:p>
        </p:txBody>
      </p:sp>
      <p:sp>
        <p:nvSpPr>
          <p:cNvPr id="15" name="TextBox 14"/>
          <p:cNvSpPr txBox="1"/>
          <p:nvPr/>
        </p:nvSpPr>
        <p:spPr>
          <a:xfrm>
            <a:off x="6583680" y="3493008"/>
            <a:ext cx="4572000" cy="254000"/>
          </a:xfrm>
          <a:prstGeom prst="rect">
            <a:avLst/>
          </a:prstGeom>
          <a:noFill/>
        </p:spPr>
        <p:txBody>
          <a:bodyPr wrap="square">
            <a:spAutoFit/>
          </a:bodyPr>
          <a:lstStyle/>
          <a:p>
            <a:pPr algn="l"/>
            <a:r>
              <a:rPr sz="1200" b="0" i="0">
                <a:solidFill>
                  <a:srgbClr val="1A0918"/>
                </a:solidFill>
                <a:latin typeface="Calibri"/>
              </a:rPr>
              <a:t>Talent density rises every quarter. Every new hire raises the average, not lowers it.</a:t>
            </a:r>
          </a:p>
        </p:txBody>
      </p:sp>
      <p:sp>
        <p:nvSpPr>
          <p:cNvPr id="16" name="TextBox 15"/>
          <p:cNvSpPr txBox="1"/>
          <p:nvPr/>
        </p:nvSpPr>
        <p:spPr>
          <a:xfrm>
            <a:off x="6263640" y="4041648"/>
            <a:ext cx="365760" cy="254000"/>
          </a:xfrm>
          <a:prstGeom prst="rect">
            <a:avLst/>
          </a:prstGeom>
          <a:noFill/>
        </p:spPr>
        <p:txBody>
          <a:bodyPr wrap="square">
            <a:spAutoFit/>
          </a:bodyPr>
          <a:lstStyle/>
          <a:p>
            <a:pPr algn="l"/>
            <a:r>
              <a:rPr sz="900" b="0" i="0">
                <a:solidFill>
                  <a:srgbClr val="E6007E"/>
                </a:solidFill>
                <a:latin typeface="Calibri"/>
              </a:rPr>
              <a:t>03</a:t>
            </a:r>
          </a:p>
        </p:txBody>
      </p:sp>
      <p:sp>
        <p:nvSpPr>
          <p:cNvPr id="17" name="TextBox 16"/>
          <p:cNvSpPr txBox="1"/>
          <p:nvPr/>
        </p:nvSpPr>
        <p:spPr>
          <a:xfrm>
            <a:off x="6583680" y="4041648"/>
            <a:ext cx="4572000" cy="254000"/>
          </a:xfrm>
          <a:prstGeom prst="rect">
            <a:avLst/>
          </a:prstGeom>
          <a:noFill/>
        </p:spPr>
        <p:txBody>
          <a:bodyPr wrap="square">
            <a:spAutoFit/>
          </a:bodyPr>
          <a:lstStyle/>
          <a:p>
            <a:pPr algn="l"/>
            <a:r>
              <a:rPr sz="1200" b="0" i="0">
                <a:solidFill>
                  <a:srgbClr val="1A0918"/>
                </a:solidFill>
                <a:latin typeface="Calibri"/>
              </a:rPr>
              <a:t>Every role drives revenue or efficiency. Borrow &gt; Build &gt; Automate &gt; Buy.</a:t>
            </a:r>
          </a:p>
        </p:txBody>
      </p:sp>
      <p:sp>
        <p:nvSpPr>
          <p:cNvPr id="18" name="TextBox 17"/>
          <p:cNvSpPr txBox="1"/>
          <p:nvPr/>
        </p:nvSpPr>
        <p:spPr>
          <a:xfrm>
            <a:off x="6263640" y="4590288"/>
            <a:ext cx="365760" cy="254000"/>
          </a:xfrm>
          <a:prstGeom prst="rect">
            <a:avLst/>
          </a:prstGeom>
          <a:noFill/>
        </p:spPr>
        <p:txBody>
          <a:bodyPr wrap="square">
            <a:spAutoFit/>
          </a:bodyPr>
          <a:lstStyle/>
          <a:p>
            <a:pPr algn="l"/>
            <a:r>
              <a:rPr sz="900" b="0" i="0">
                <a:solidFill>
                  <a:srgbClr val="E6007E"/>
                </a:solidFill>
                <a:latin typeface="Calibri"/>
              </a:rPr>
              <a:t>04</a:t>
            </a:r>
          </a:p>
        </p:txBody>
      </p:sp>
      <p:sp>
        <p:nvSpPr>
          <p:cNvPr id="19" name="TextBox 18"/>
          <p:cNvSpPr txBox="1"/>
          <p:nvPr/>
        </p:nvSpPr>
        <p:spPr>
          <a:xfrm>
            <a:off x="6583680" y="4590288"/>
            <a:ext cx="4572000" cy="254000"/>
          </a:xfrm>
          <a:prstGeom prst="rect">
            <a:avLst/>
          </a:prstGeom>
          <a:noFill/>
        </p:spPr>
        <p:txBody>
          <a:bodyPr wrap="square">
            <a:spAutoFit/>
          </a:bodyPr>
          <a:lstStyle/>
          <a:p>
            <a:pPr algn="l"/>
            <a:r>
              <a:rPr sz="1200" b="0" i="0">
                <a:solidFill>
                  <a:srgbClr val="1A0918"/>
                </a:solidFill>
                <a:latin typeface="Calibri"/>
              </a:rPr>
              <a:t>Managers are performance enablers — manager-makers, not administrators.</a:t>
            </a:r>
          </a:p>
        </p:txBody>
      </p:sp>
      <p:sp>
        <p:nvSpPr>
          <p:cNvPr id="20" name="TextBox 19"/>
          <p:cNvSpPr txBox="1"/>
          <p:nvPr/>
        </p:nvSpPr>
        <p:spPr>
          <a:xfrm>
            <a:off x="6263640" y="5138928"/>
            <a:ext cx="365760" cy="254000"/>
          </a:xfrm>
          <a:prstGeom prst="rect">
            <a:avLst/>
          </a:prstGeom>
          <a:noFill/>
        </p:spPr>
        <p:txBody>
          <a:bodyPr wrap="square">
            <a:spAutoFit/>
          </a:bodyPr>
          <a:lstStyle/>
          <a:p>
            <a:pPr algn="l"/>
            <a:r>
              <a:rPr sz="900" b="0" i="0">
                <a:solidFill>
                  <a:srgbClr val="E6007E"/>
                </a:solidFill>
                <a:latin typeface="Calibri"/>
              </a:rPr>
              <a:t>05</a:t>
            </a:r>
          </a:p>
        </p:txBody>
      </p:sp>
      <p:sp>
        <p:nvSpPr>
          <p:cNvPr id="21" name="TextBox 20"/>
          <p:cNvSpPr txBox="1"/>
          <p:nvPr/>
        </p:nvSpPr>
        <p:spPr>
          <a:xfrm>
            <a:off x="6583680" y="5138928"/>
            <a:ext cx="4572000" cy="254000"/>
          </a:xfrm>
          <a:prstGeom prst="rect">
            <a:avLst/>
          </a:prstGeom>
          <a:noFill/>
        </p:spPr>
        <p:txBody>
          <a:bodyPr wrap="square">
            <a:spAutoFit/>
          </a:bodyPr>
          <a:lstStyle/>
          <a:p>
            <a:pPr algn="l"/>
            <a:r>
              <a:rPr sz="1200" b="0" i="0">
                <a:solidFill>
                  <a:srgbClr val="1A0918"/>
                </a:solidFill>
                <a:latin typeface="Calibri"/>
              </a:rPr>
              <a:t>The system carries the standard. The founders stop having 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05 · What I'd measure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Operational excellence</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000" b="0" i="0">
                <a:solidFill>
                  <a:srgbClr val="1A0918"/>
                </a:solidFill>
                <a:latin typeface="Calibri"/>
              </a:rPr>
              <a:t>A performance dashboard, not a sentiment dashboard.</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The dashboard tells the founders whether the People system is working, and surfaces leading indicators of the pivot succeeding or stalling.</a:t>
            </a:r>
          </a:p>
        </p:txBody>
      </p:sp>
      <p:sp>
        <p:nvSpPr>
          <p:cNvPr id="7" name="Rectangle 6"/>
          <p:cNvSpPr/>
          <p:nvPr/>
        </p:nvSpPr>
        <p:spPr>
          <a:xfrm>
            <a:off x="822960" y="2377440"/>
            <a:ext cx="813816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50592"/>
            <a:ext cx="1280160" cy="203200"/>
          </a:xfrm>
          <a:prstGeom prst="rect">
            <a:avLst/>
          </a:prstGeom>
          <a:noFill/>
        </p:spPr>
        <p:txBody>
          <a:bodyPr wrap="square">
            <a:spAutoFit/>
          </a:bodyPr>
          <a:lstStyle/>
          <a:p>
            <a:pPr algn="l"/>
            <a:r>
              <a:rPr sz="800" b="0" i="0">
                <a:solidFill>
                  <a:srgbClr val="8A7585"/>
                </a:solidFill>
                <a:latin typeface="Calibri"/>
              </a:rPr>
              <a:t>CATEGORY</a:t>
            </a:r>
          </a:p>
        </p:txBody>
      </p:sp>
      <p:sp>
        <p:nvSpPr>
          <p:cNvPr id="9" name="TextBox 8"/>
          <p:cNvSpPr txBox="1"/>
          <p:nvPr/>
        </p:nvSpPr>
        <p:spPr>
          <a:xfrm>
            <a:off x="2194560" y="2450592"/>
            <a:ext cx="3291840" cy="203200"/>
          </a:xfrm>
          <a:prstGeom prst="rect">
            <a:avLst/>
          </a:prstGeom>
          <a:noFill/>
        </p:spPr>
        <p:txBody>
          <a:bodyPr wrap="square">
            <a:spAutoFit/>
          </a:bodyPr>
          <a:lstStyle/>
          <a:p>
            <a:pPr algn="l"/>
            <a:r>
              <a:rPr sz="800" b="0" i="0">
                <a:solidFill>
                  <a:srgbClr val="8A7585"/>
                </a:solidFill>
                <a:latin typeface="Calibri"/>
              </a:rPr>
              <a:t>METRIC</a:t>
            </a:r>
          </a:p>
        </p:txBody>
      </p:sp>
      <p:sp>
        <p:nvSpPr>
          <p:cNvPr id="10" name="TextBox 9"/>
          <p:cNvSpPr txBox="1"/>
          <p:nvPr/>
        </p:nvSpPr>
        <p:spPr>
          <a:xfrm>
            <a:off x="5486400" y="2450592"/>
            <a:ext cx="3566160" cy="203200"/>
          </a:xfrm>
          <a:prstGeom prst="rect">
            <a:avLst/>
          </a:prstGeom>
          <a:noFill/>
        </p:spPr>
        <p:txBody>
          <a:bodyPr wrap="square">
            <a:spAutoFit/>
          </a:bodyPr>
          <a:lstStyle/>
          <a:p>
            <a:pPr algn="l"/>
            <a:r>
              <a:rPr sz="800" b="0" i="0">
                <a:solidFill>
                  <a:srgbClr val="8A7585"/>
                </a:solidFill>
                <a:latin typeface="Calibri"/>
              </a:rPr>
              <a:t>WHY IT MATTERS FOR THE PIVOT</a:t>
            </a:r>
          </a:p>
        </p:txBody>
      </p:sp>
      <p:sp>
        <p:nvSpPr>
          <p:cNvPr id="11" name="TextBox 10"/>
          <p:cNvSpPr txBox="1"/>
          <p:nvPr/>
        </p:nvSpPr>
        <p:spPr>
          <a:xfrm>
            <a:off x="914400" y="2734056"/>
            <a:ext cx="1280160" cy="512064"/>
          </a:xfrm>
          <a:prstGeom prst="rect">
            <a:avLst/>
          </a:prstGeom>
          <a:noFill/>
        </p:spPr>
        <p:txBody>
          <a:bodyPr wrap="square">
            <a:spAutoFit/>
          </a:bodyPr>
          <a:lstStyle/>
          <a:p>
            <a:pPr algn="l"/>
            <a:r>
              <a:rPr sz="900" b="0" i="0">
                <a:solidFill>
                  <a:srgbClr val="E6007E"/>
                </a:solidFill>
                <a:latin typeface="Calibri"/>
              </a:rPr>
              <a:t>Performance</a:t>
            </a:r>
          </a:p>
        </p:txBody>
      </p:sp>
      <p:sp>
        <p:nvSpPr>
          <p:cNvPr id="12" name="TextBox 11"/>
          <p:cNvSpPr txBox="1"/>
          <p:nvPr/>
        </p:nvSpPr>
        <p:spPr>
          <a:xfrm>
            <a:off x="2194560" y="2734056"/>
            <a:ext cx="3291840" cy="512064"/>
          </a:xfrm>
          <a:prstGeom prst="rect">
            <a:avLst/>
          </a:prstGeom>
          <a:noFill/>
        </p:spPr>
        <p:txBody>
          <a:bodyPr wrap="square">
            <a:spAutoFit/>
          </a:bodyPr>
          <a:lstStyle/>
          <a:p>
            <a:pPr algn="l"/>
            <a:r>
              <a:rPr sz="1100" b="0" i="0">
                <a:solidFill>
                  <a:srgbClr val="1A0918"/>
                </a:solidFill>
                <a:latin typeface="Calibri"/>
              </a:rPr>
              <a:t>Team OKR attainment; individual goal attainment; manager effectiveness</a:t>
            </a:r>
          </a:p>
        </p:txBody>
      </p:sp>
      <p:sp>
        <p:nvSpPr>
          <p:cNvPr id="13" name="TextBox 12"/>
          <p:cNvSpPr txBox="1"/>
          <p:nvPr/>
        </p:nvSpPr>
        <p:spPr>
          <a:xfrm>
            <a:off x="5486400" y="2734056"/>
            <a:ext cx="3566160" cy="512064"/>
          </a:xfrm>
          <a:prstGeom prst="rect">
            <a:avLst/>
          </a:prstGeom>
          <a:noFill/>
        </p:spPr>
        <p:txBody>
          <a:bodyPr wrap="square">
            <a:spAutoFit/>
          </a:bodyPr>
          <a:lstStyle/>
          <a:p>
            <a:pPr algn="l"/>
            <a:r>
              <a:rPr sz="1100" b="0" i="0">
                <a:solidFill>
                  <a:srgbClr val="4A2F47"/>
                </a:solidFill>
                <a:latin typeface="Calibri"/>
              </a:rPr>
              <a:t>Direct read on whether the company is delivering against the £30m plan</a:t>
            </a:r>
          </a:p>
        </p:txBody>
      </p:sp>
      <p:sp>
        <p:nvSpPr>
          <p:cNvPr id="14" name="TextBox 13"/>
          <p:cNvSpPr txBox="1"/>
          <p:nvPr/>
        </p:nvSpPr>
        <p:spPr>
          <a:xfrm>
            <a:off x="914400" y="3319272"/>
            <a:ext cx="1280160" cy="512064"/>
          </a:xfrm>
          <a:prstGeom prst="rect">
            <a:avLst/>
          </a:prstGeom>
          <a:noFill/>
        </p:spPr>
        <p:txBody>
          <a:bodyPr wrap="square">
            <a:spAutoFit/>
          </a:bodyPr>
          <a:lstStyle/>
          <a:p>
            <a:pPr algn="l"/>
            <a:r>
              <a:rPr sz="900" b="0" i="0">
                <a:solidFill>
                  <a:srgbClr val="E6007E"/>
                </a:solidFill>
                <a:latin typeface="Calibri"/>
              </a:rPr>
              <a:t>Talent density</a:t>
            </a:r>
          </a:p>
        </p:txBody>
      </p:sp>
      <p:sp>
        <p:nvSpPr>
          <p:cNvPr id="15" name="TextBox 14"/>
          <p:cNvSpPr txBox="1"/>
          <p:nvPr/>
        </p:nvSpPr>
        <p:spPr>
          <a:xfrm>
            <a:off x="2194560" y="3319272"/>
            <a:ext cx="3291840" cy="512064"/>
          </a:xfrm>
          <a:prstGeom prst="rect">
            <a:avLst/>
          </a:prstGeom>
          <a:noFill/>
        </p:spPr>
        <p:txBody>
          <a:bodyPr wrap="square">
            <a:spAutoFit/>
          </a:bodyPr>
          <a:lstStyle/>
          <a:p>
            <a:pPr algn="l"/>
            <a:r>
              <a:rPr sz="1100" b="0" i="0">
                <a:solidFill>
                  <a:srgbClr val="1A0918"/>
                </a:solidFill>
                <a:latin typeface="Calibri"/>
              </a:rPr>
              <a:t>% of roles meeting or exceeding Impact Profile standards</a:t>
            </a:r>
          </a:p>
        </p:txBody>
      </p:sp>
      <p:sp>
        <p:nvSpPr>
          <p:cNvPr id="16" name="TextBox 15"/>
          <p:cNvSpPr txBox="1"/>
          <p:nvPr/>
        </p:nvSpPr>
        <p:spPr>
          <a:xfrm>
            <a:off x="5486400" y="3319272"/>
            <a:ext cx="3566160" cy="512064"/>
          </a:xfrm>
          <a:prstGeom prst="rect">
            <a:avLst/>
          </a:prstGeom>
          <a:noFill/>
        </p:spPr>
        <p:txBody>
          <a:bodyPr wrap="square">
            <a:spAutoFit/>
          </a:bodyPr>
          <a:lstStyle/>
          <a:p>
            <a:pPr algn="l"/>
            <a:r>
              <a:rPr sz="1100" b="0" i="0">
                <a:solidFill>
                  <a:srgbClr val="4A2F47"/>
                </a:solidFill>
                <a:latin typeface="Calibri"/>
              </a:rPr>
              <a:t>The compounding lever — every hire raises the average or lowers it</a:t>
            </a:r>
          </a:p>
        </p:txBody>
      </p:sp>
      <p:sp>
        <p:nvSpPr>
          <p:cNvPr id="17" name="TextBox 16"/>
          <p:cNvSpPr txBox="1"/>
          <p:nvPr/>
        </p:nvSpPr>
        <p:spPr>
          <a:xfrm>
            <a:off x="914400" y="3904488"/>
            <a:ext cx="1280160" cy="512064"/>
          </a:xfrm>
          <a:prstGeom prst="rect">
            <a:avLst/>
          </a:prstGeom>
          <a:noFill/>
        </p:spPr>
        <p:txBody>
          <a:bodyPr wrap="square">
            <a:spAutoFit/>
          </a:bodyPr>
          <a:lstStyle/>
          <a:p>
            <a:pPr algn="l"/>
            <a:r>
              <a:rPr sz="900" b="0" i="0">
                <a:solidFill>
                  <a:srgbClr val="E6007E"/>
                </a:solidFill>
                <a:latin typeface="Calibri"/>
              </a:rPr>
              <a:t>Hiring</a:t>
            </a:r>
          </a:p>
        </p:txBody>
      </p:sp>
      <p:sp>
        <p:nvSpPr>
          <p:cNvPr id="18" name="TextBox 17"/>
          <p:cNvSpPr txBox="1"/>
          <p:nvPr/>
        </p:nvSpPr>
        <p:spPr>
          <a:xfrm>
            <a:off x="2194560" y="3904488"/>
            <a:ext cx="3291840" cy="512064"/>
          </a:xfrm>
          <a:prstGeom prst="rect">
            <a:avLst/>
          </a:prstGeom>
          <a:noFill/>
        </p:spPr>
        <p:txBody>
          <a:bodyPr wrap="square">
            <a:spAutoFit/>
          </a:bodyPr>
          <a:lstStyle/>
          <a:p>
            <a:pPr algn="l"/>
            <a:r>
              <a:rPr sz="1100" b="0" i="0">
                <a:solidFill>
                  <a:srgbClr val="1A0918"/>
                </a:solidFill>
                <a:latin typeface="Calibri"/>
              </a:rPr>
              <a:t>Time to hire; quality of hire (6M Impact Profile pass rate); offer acceptance</a:t>
            </a:r>
          </a:p>
        </p:txBody>
      </p:sp>
      <p:sp>
        <p:nvSpPr>
          <p:cNvPr id="19" name="TextBox 18"/>
          <p:cNvSpPr txBox="1"/>
          <p:nvPr/>
        </p:nvSpPr>
        <p:spPr>
          <a:xfrm>
            <a:off x="5486400" y="3904488"/>
            <a:ext cx="3566160" cy="512064"/>
          </a:xfrm>
          <a:prstGeom prst="rect">
            <a:avLst/>
          </a:prstGeom>
          <a:noFill/>
        </p:spPr>
        <p:txBody>
          <a:bodyPr wrap="square">
            <a:spAutoFit/>
          </a:bodyPr>
          <a:lstStyle/>
          <a:p>
            <a:pPr algn="l"/>
            <a:r>
              <a:rPr sz="1100" b="0" i="0">
                <a:solidFill>
                  <a:srgbClr val="4A2F47"/>
                </a:solidFill>
                <a:latin typeface="Calibri"/>
              </a:rPr>
              <a:t>Determines whether the senior team integrates and performs</a:t>
            </a:r>
          </a:p>
        </p:txBody>
      </p:sp>
      <p:sp>
        <p:nvSpPr>
          <p:cNvPr id="20" name="TextBox 19"/>
          <p:cNvSpPr txBox="1"/>
          <p:nvPr/>
        </p:nvSpPr>
        <p:spPr>
          <a:xfrm>
            <a:off x="914400" y="4489704"/>
            <a:ext cx="1280160" cy="512064"/>
          </a:xfrm>
          <a:prstGeom prst="rect">
            <a:avLst/>
          </a:prstGeom>
          <a:noFill/>
        </p:spPr>
        <p:txBody>
          <a:bodyPr wrap="square">
            <a:spAutoFit/>
          </a:bodyPr>
          <a:lstStyle/>
          <a:p>
            <a:pPr algn="l"/>
            <a:r>
              <a:rPr sz="900" b="0" i="0">
                <a:solidFill>
                  <a:srgbClr val="E6007E"/>
                </a:solidFill>
                <a:latin typeface="Calibri"/>
              </a:rPr>
              <a:t>Retention</a:t>
            </a:r>
          </a:p>
        </p:txBody>
      </p:sp>
      <p:sp>
        <p:nvSpPr>
          <p:cNvPr id="21" name="TextBox 20"/>
          <p:cNvSpPr txBox="1"/>
          <p:nvPr/>
        </p:nvSpPr>
        <p:spPr>
          <a:xfrm>
            <a:off x="2194560" y="4489704"/>
            <a:ext cx="3291840" cy="512064"/>
          </a:xfrm>
          <a:prstGeom prst="rect">
            <a:avLst/>
          </a:prstGeom>
          <a:noFill/>
        </p:spPr>
        <p:txBody>
          <a:bodyPr wrap="square">
            <a:spAutoFit/>
          </a:bodyPr>
          <a:lstStyle/>
          <a:p>
            <a:pPr algn="l"/>
            <a:r>
              <a:rPr sz="1100" b="0" i="0">
                <a:solidFill>
                  <a:srgbClr val="1A0918"/>
                </a:solidFill>
                <a:latin typeface="Calibri"/>
              </a:rPr>
              <a:t>Regrettable turnover; engagement pulse top/bottom 3; AMO conditions</a:t>
            </a:r>
          </a:p>
        </p:txBody>
      </p:sp>
      <p:sp>
        <p:nvSpPr>
          <p:cNvPr id="22" name="TextBox 21"/>
          <p:cNvSpPr txBox="1"/>
          <p:nvPr/>
        </p:nvSpPr>
        <p:spPr>
          <a:xfrm>
            <a:off x="5486400" y="4489704"/>
            <a:ext cx="3566160" cy="512064"/>
          </a:xfrm>
          <a:prstGeom prst="rect">
            <a:avLst/>
          </a:prstGeom>
          <a:noFill/>
        </p:spPr>
        <p:txBody>
          <a:bodyPr wrap="square">
            <a:spAutoFit/>
          </a:bodyPr>
          <a:lstStyle/>
          <a:p>
            <a:pPr algn="l"/>
            <a:r>
              <a:rPr sz="1100" b="0" i="0">
                <a:solidFill>
                  <a:srgbClr val="4A2F47"/>
                </a:solidFill>
                <a:latin typeface="Calibri"/>
              </a:rPr>
              <a:t>Early signal of senior team health and culture under strain</a:t>
            </a:r>
          </a:p>
        </p:txBody>
      </p:sp>
      <p:sp>
        <p:nvSpPr>
          <p:cNvPr id="23" name="TextBox 22"/>
          <p:cNvSpPr txBox="1"/>
          <p:nvPr/>
        </p:nvSpPr>
        <p:spPr>
          <a:xfrm>
            <a:off x="914400" y="5074920"/>
            <a:ext cx="1280160" cy="512064"/>
          </a:xfrm>
          <a:prstGeom prst="rect">
            <a:avLst/>
          </a:prstGeom>
          <a:noFill/>
        </p:spPr>
        <p:txBody>
          <a:bodyPr wrap="square">
            <a:spAutoFit/>
          </a:bodyPr>
          <a:lstStyle/>
          <a:p>
            <a:pPr algn="l"/>
            <a:r>
              <a:rPr sz="900" b="0" i="0">
                <a:solidFill>
                  <a:srgbClr val="E6007E"/>
                </a:solidFill>
                <a:latin typeface="Calibri"/>
              </a:rPr>
              <a:t>Org health</a:t>
            </a:r>
          </a:p>
        </p:txBody>
      </p:sp>
      <p:sp>
        <p:nvSpPr>
          <p:cNvPr id="24" name="TextBox 23"/>
          <p:cNvSpPr txBox="1"/>
          <p:nvPr/>
        </p:nvSpPr>
        <p:spPr>
          <a:xfrm>
            <a:off x="2194560" y="5074920"/>
            <a:ext cx="3291840" cy="512064"/>
          </a:xfrm>
          <a:prstGeom prst="rect">
            <a:avLst/>
          </a:prstGeom>
          <a:noFill/>
        </p:spPr>
        <p:txBody>
          <a:bodyPr wrap="square">
            <a:spAutoFit/>
          </a:bodyPr>
          <a:lstStyle/>
          <a:p>
            <a:pPr algn="l"/>
            <a:r>
              <a:rPr sz="1100" b="0" i="0">
                <a:solidFill>
                  <a:srgbClr val="1A0918"/>
                </a:solidFill>
                <a:latin typeface="Calibri"/>
              </a:rPr>
              <a:t>Headcount growth vs revenue per head; cost to serve per property</a:t>
            </a:r>
          </a:p>
        </p:txBody>
      </p:sp>
      <p:sp>
        <p:nvSpPr>
          <p:cNvPr id="25" name="TextBox 24"/>
          <p:cNvSpPr txBox="1"/>
          <p:nvPr/>
        </p:nvSpPr>
        <p:spPr>
          <a:xfrm>
            <a:off x="5486400" y="5074920"/>
            <a:ext cx="3566160" cy="512064"/>
          </a:xfrm>
          <a:prstGeom prst="rect">
            <a:avLst/>
          </a:prstGeom>
          <a:noFill/>
        </p:spPr>
        <p:txBody>
          <a:bodyPr wrap="square">
            <a:spAutoFit/>
          </a:bodyPr>
          <a:lstStyle/>
          <a:p>
            <a:pPr algn="l"/>
            <a:r>
              <a:rPr sz="1100" b="0" i="0">
                <a:solidFill>
                  <a:srgbClr val="4A2F47"/>
                </a:solidFill>
                <a:latin typeface="Calibri"/>
              </a:rPr>
              <a:t>Direct read on the sublinear hiring thesis</a:t>
            </a:r>
          </a:p>
        </p:txBody>
      </p:sp>
      <p:sp>
        <p:nvSpPr>
          <p:cNvPr id="26" name="TextBox 25"/>
          <p:cNvSpPr txBox="1"/>
          <p:nvPr/>
        </p:nvSpPr>
        <p:spPr>
          <a:xfrm>
            <a:off x="914400" y="5660136"/>
            <a:ext cx="1280160" cy="512064"/>
          </a:xfrm>
          <a:prstGeom prst="rect">
            <a:avLst/>
          </a:prstGeom>
          <a:noFill/>
        </p:spPr>
        <p:txBody>
          <a:bodyPr wrap="square">
            <a:spAutoFit/>
          </a:bodyPr>
          <a:lstStyle/>
          <a:p>
            <a:pPr algn="l"/>
            <a:r>
              <a:rPr sz="900" b="0" i="0">
                <a:solidFill>
                  <a:srgbClr val="E6007E"/>
                </a:solidFill>
                <a:latin typeface="Calibri"/>
              </a:rPr>
              <a:t>Equity</a:t>
            </a:r>
          </a:p>
        </p:txBody>
      </p:sp>
      <p:sp>
        <p:nvSpPr>
          <p:cNvPr id="27" name="TextBox 26"/>
          <p:cNvSpPr txBox="1"/>
          <p:nvPr/>
        </p:nvSpPr>
        <p:spPr>
          <a:xfrm>
            <a:off x="2194560" y="5660136"/>
            <a:ext cx="3291840" cy="512064"/>
          </a:xfrm>
          <a:prstGeom prst="rect">
            <a:avLst/>
          </a:prstGeom>
          <a:noFill/>
        </p:spPr>
        <p:txBody>
          <a:bodyPr wrap="square">
            <a:spAutoFit/>
          </a:bodyPr>
          <a:lstStyle/>
          <a:p>
            <a:pPr algn="l"/>
            <a:r>
              <a:rPr sz="1100" b="0" i="0">
                <a:solidFill>
                  <a:srgbClr val="1A0918"/>
                </a:solidFill>
                <a:latin typeface="Calibri"/>
              </a:rPr>
              <a:t>Pay equity by role, gender, ethnicity; promotion distribution</a:t>
            </a:r>
          </a:p>
        </p:txBody>
      </p:sp>
      <p:sp>
        <p:nvSpPr>
          <p:cNvPr id="28" name="TextBox 27"/>
          <p:cNvSpPr txBox="1"/>
          <p:nvPr/>
        </p:nvSpPr>
        <p:spPr>
          <a:xfrm>
            <a:off x="5486400" y="5660136"/>
            <a:ext cx="3566160" cy="512064"/>
          </a:xfrm>
          <a:prstGeom prst="rect">
            <a:avLst/>
          </a:prstGeom>
          <a:noFill/>
        </p:spPr>
        <p:txBody>
          <a:bodyPr wrap="square">
            <a:spAutoFit/>
          </a:bodyPr>
          <a:lstStyle/>
          <a:p>
            <a:pPr algn="l"/>
            <a:r>
              <a:rPr sz="1100" b="0" i="0">
                <a:solidFill>
                  <a:srgbClr val="4A2F47"/>
                </a:solidFill>
                <a:latin typeface="Calibri"/>
              </a:rPr>
              <a:t>Protects the no-ego culture as the company scales</a:t>
            </a:r>
          </a:p>
        </p:txBody>
      </p:sp>
      <p:sp>
        <p:nvSpPr>
          <p:cNvPr id="29" name="Rectangle 28"/>
          <p:cNvSpPr/>
          <p:nvPr/>
        </p:nvSpPr>
        <p:spPr>
          <a:xfrm>
            <a:off x="9098280" y="2377440"/>
            <a:ext cx="224028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2487168"/>
            <a:ext cx="2011680" cy="254000"/>
          </a:xfrm>
          <a:prstGeom prst="rect">
            <a:avLst/>
          </a:prstGeom>
          <a:noFill/>
        </p:spPr>
        <p:txBody>
          <a:bodyPr wrap="square">
            <a:spAutoFit/>
          </a:bodyPr>
          <a:lstStyle/>
          <a:p>
            <a:pPr algn="l"/>
            <a:r>
              <a:rPr sz="1200" b="1" i="0">
                <a:solidFill>
                  <a:srgbClr val="1A0918"/>
                </a:solidFill>
                <a:latin typeface="Calibri"/>
              </a:rPr>
              <a:t>Reporting cadence</a:t>
            </a:r>
          </a:p>
        </p:txBody>
      </p:sp>
      <p:sp>
        <p:nvSpPr>
          <p:cNvPr id="31" name="TextBox 30"/>
          <p:cNvSpPr txBox="1"/>
          <p:nvPr/>
        </p:nvSpPr>
        <p:spPr>
          <a:xfrm>
            <a:off x="9235440" y="2834640"/>
            <a:ext cx="2011680" cy="731520"/>
          </a:xfrm>
          <a:prstGeom prst="rect">
            <a:avLst/>
          </a:prstGeom>
          <a:noFill/>
        </p:spPr>
        <p:txBody>
          <a:bodyPr wrap="square">
            <a:spAutoFit/>
          </a:bodyPr>
          <a:lstStyle/>
          <a:p>
            <a:pPr algn="l"/>
            <a:r>
              <a:rPr sz="1000" b="0" i="0">
                <a:solidFill>
                  <a:srgbClr val="4A2F47"/>
                </a:solidFill>
                <a:latin typeface="Calibri"/>
              </a:rPr>
              <a:t>▸  Monthly to Ricky in our 1:1</a:t>
            </a:r>
          </a:p>
        </p:txBody>
      </p:sp>
      <p:sp>
        <p:nvSpPr>
          <p:cNvPr id="32" name="TextBox 31"/>
          <p:cNvSpPr txBox="1"/>
          <p:nvPr/>
        </p:nvSpPr>
        <p:spPr>
          <a:xfrm>
            <a:off x="9235440" y="3474720"/>
            <a:ext cx="2011680" cy="731520"/>
          </a:xfrm>
          <a:prstGeom prst="rect">
            <a:avLst/>
          </a:prstGeom>
          <a:noFill/>
        </p:spPr>
        <p:txBody>
          <a:bodyPr wrap="square">
            <a:spAutoFit/>
          </a:bodyPr>
          <a:lstStyle/>
          <a:p>
            <a:pPr algn="l"/>
            <a:r>
              <a:rPr sz="1000" b="0" i="0">
                <a:solidFill>
                  <a:srgbClr val="4A2F47"/>
                </a:solidFill>
                <a:latin typeface="Calibri"/>
              </a:rPr>
              <a:t>▸  Quarterly to the full founder team</a:t>
            </a:r>
          </a:p>
        </p:txBody>
      </p:sp>
      <p:sp>
        <p:nvSpPr>
          <p:cNvPr id="33" name="TextBox 32"/>
          <p:cNvSpPr txBox="1"/>
          <p:nvPr/>
        </p:nvSpPr>
        <p:spPr>
          <a:xfrm>
            <a:off x="9235440" y="4114800"/>
            <a:ext cx="2011680" cy="731520"/>
          </a:xfrm>
          <a:prstGeom prst="rect">
            <a:avLst/>
          </a:prstGeom>
          <a:noFill/>
        </p:spPr>
        <p:txBody>
          <a:bodyPr wrap="square">
            <a:spAutoFit/>
          </a:bodyPr>
          <a:lstStyle/>
          <a:p>
            <a:pPr algn="l"/>
            <a:r>
              <a:rPr sz="1000" b="0" i="0">
                <a:solidFill>
                  <a:srgbClr val="4A2F47"/>
                </a:solidFill>
                <a:latin typeface="Calibri"/>
              </a:rPr>
              <a:t>▸  Three-slide People appendix in the Five Elms board pack: talent density, hiring quality, performance system health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06 · Impact Profile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High performance — built not hoped for</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000" b="0" i="0">
                <a:solidFill>
                  <a:srgbClr val="1A0918"/>
                </a:solidFill>
                <a:latin typeface="Calibri"/>
              </a:rPr>
              <a:t>The Impact Profile: from task list to success criteria.</a:t>
            </a:r>
          </a:p>
        </p:txBody>
      </p:sp>
      <p:sp>
        <p:nvSpPr>
          <p:cNvPr id="6" name="TextBox 5"/>
          <p:cNvSpPr txBox="1"/>
          <p:nvPr/>
        </p:nvSpPr>
        <p:spPr>
          <a:xfrm>
            <a:off x="822960" y="1828800"/>
            <a:ext cx="10515600" cy="411480"/>
          </a:xfrm>
          <a:prstGeom prst="rect">
            <a:avLst/>
          </a:prstGeom>
          <a:noFill/>
        </p:spPr>
        <p:txBody>
          <a:bodyPr wrap="square">
            <a:spAutoFit/>
          </a:bodyPr>
          <a:lstStyle/>
          <a:p>
            <a:pPr algn="l"/>
            <a:r>
              <a:rPr sz="1200" b="0" i="0">
                <a:solidFill>
                  <a:srgbClr val="4A2F47"/>
                </a:solidFill>
                <a:latin typeface="Calibri"/>
              </a:rPr>
              <a:t>Applied to your Customer Onboarding Executive (German Speaker) role — currently live on careers.</a:t>
            </a:r>
          </a:p>
        </p:txBody>
      </p:sp>
      <p:sp>
        <p:nvSpPr>
          <p:cNvPr id="7" name="TextBox 6"/>
          <p:cNvSpPr txBox="1"/>
          <p:nvPr/>
        </p:nvSpPr>
        <p:spPr>
          <a:xfrm>
            <a:off x="822960" y="2331720"/>
            <a:ext cx="3017520" cy="203200"/>
          </a:xfrm>
          <a:prstGeom prst="rect">
            <a:avLst/>
          </a:prstGeom>
          <a:noFill/>
        </p:spPr>
        <p:txBody>
          <a:bodyPr wrap="square">
            <a:spAutoFit/>
          </a:bodyPr>
          <a:lstStyle/>
          <a:p>
            <a:pPr algn="l"/>
            <a:r>
              <a:rPr sz="800" b="0" i="0">
                <a:solidFill>
                  <a:srgbClr val="E6007E"/>
                </a:solidFill>
                <a:latin typeface="Calibri"/>
              </a:rPr>
              <a:t>01 · Team alignment</a:t>
            </a:r>
          </a:p>
        </p:txBody>
      </p:sp>
      <p:sp>
        <p:nvSpPr>
          <p:cNvPr id="8" name="TextBox 7"/>
          <p:cNvSpPr txBox="1"/>
          <p:nvPr/>
        </p:nvSpPr>
        <p:spPr>
          <a:xfrm>
            <a:off x="822960" y="2532888"/>
            <a:ext cx="3017520" cy="254000"/>
          </a:xfrm>
          <a:prstGeom prst="rect">
            <a:avLst/>
          </a:prstGeom>
          <a:noFill/>
        </p:spPr>
        <p:txBody>
          <a:bodyPr wrap="square">
            <a:spAutoFit/>
          </a:bodyPr>
          <a:lstStyle/>
          <a:p>
            <a:pPr algn="l"/>
            <a:r>
              <a:rPr sz="1200" b="1" i="0">
                <a:solidFill>
                  <a:srgbClr val="1A0918"/>
                </a:solidFill>
                <a:latin typeface="Calibri"/>
              </a:rPr>
              <a:t>Six-month goals, top-down</a:t>
            </a:r>
          </a:p>
        </p:txBody>
      </p:sp>
      <p:sp>
        <p:nvSpPr>
          <p:cNvPr id="9" name="TextBox 8"/>
          <p:cNvSpPr txBox="1"/>
          <p:nvPr/>
        </p:nvSpPr>
        <p:spPr>
          <a:xfrm>
            <a:off x="822960" y="2788920"/>
            <a:ext cx="3017520" cy="457200"/>
          </a:xfrm>
          <a:prstGeom prst="rect">
            <a:avLst/>
          </a:prstGeom>
          <a:noFill/>
        </p:spPr>
        <p:txBody>
          <a:bodyPr wrap="square">
            <a:spAutoFit/>
          </a:bodyPr>
          <a:lstStyle/>
          <a:p>
            <a:pPr algn="l"/>
            <a:r>
              <a:rPr sz="1000" b="0" i="0">
                <a:solidFill>
                  <a:srgbClr val="4A2F47"/>
                </a:solidFill>
                <a:latin typeface="Calibri"/>
              </a:rPr>
              <a:t>Skills and capability gap analysis. Team OKRs aligned to the experience platform journey.</a:t>
            </a:r>
          </a:p>
        </p:txBody>
      </p:sp>
      <p:sp>
        <p:nvSpPr>
          <p:cNvPr id="10" name="TextBox 9"/>
          <p:cNvSpPr txBox="1"/>
          <p:nvPr/>
        </p:nvSpPr>
        <p:spPr>
          <a:xfrm>
            <a:off x="822960" y="3383280"/>
            <a:ext cx="3017520" cy="203200"/>
          </a:xfrm>
          <a:prstGeom prst="rect">
            <a:avLst/>
          </a:prstGeom>
          <a:noFill/>
        </p:spPr>
        <p:txBody>
          <a:bodyPr wrap="square">
            <a:spAutoFit/>
          </a:bodyPr>
          <a:lstStyle/>
          <a:p>
            <a:pPr algn="l"/>
            <a:r>
              <a:rPr sz="800" b="0" i="0">
                <a:solidFill>
                  <a:srgbClr val="E6007E"/>
                </a:solidFill>
                <a:latin typeface="Calibri"/>
              </a:rPr>
              <a:t>02 · Individual clarity</a:t>
            </a:r>
          </a:p>
        </p:txBody>
      </p:sp>
      <p:sp>
        <p:nvSpPr>
          <p:cNvPr id="11" name="TextBox 10"/>
          <p:cNvSpPr txBox="1"/>
          <p:nvPr/>
        </p:nvSpPr>
        <p:spPr>
          <a:xfrm>
            <a:off x="822960" y="3584448"/>
            <a:ext cx="3017520" cy="254000"/>
          </a:xfrm>
          <a:prstGeom prst="rect">
            <a:avLst/>
          </a:prstGeom>
          <a:noFill/>
        </p:spPr>
        <p:txBody>
          <a:bodyPr wrap="square">
            <a:spAutoFit/>
          </a:bodyPr>
          <a:lstStyle/>
          <a:p>
            <a:pPr algn="l"/>
            <a:r>
              <a:rPr sz="1200" b="1" i="0">
                <a:solidFill>
                  <a:srgbClr val="1A0918"/>
                </a:solidFill>
                <a:latin typeface="Calibri"/>
              </a:rPr>
              <a:t>Impact Profiles for every role</a:t>
            </a:r>
          </a:p>
        </p:txBody>
      </p:sp>
      <p:sp>
        <p:nvSpPr>
          <p:cNvPr id="12" name="TextBox 11"/>
          <p:cNvSpPr txBox="1"/>
          <p:nvPr/>
        </p:nvSpPr>
        <p:spPr>
          <a:xfrm>
            <a:off x="822960" y="3840480"/>
            <a:ext cx="3017520" cy="457200"/>
          </a:xfrm>
          <a:prstGeom prst="rect">
            <a:avLst/>
          </a:prstGeom>
          <a:noFill/>
        </p:spPr>
        <p:txBody>
          <a:bodyPr wrap="square">
            <a:spAutoFit/>
          </a:bodyPr>
          <a:lstStyle/>
          <a:p>
            <a:pPr algn="l"/>
            <a:r>
              <a:rPr sz="1000" b="0" i="0">
                <a:solidFill>
                  <a:srgbClr val="4A2F47"/>
                </a:solidFill>
                <a:latin typeface="Calibri"/>
              </a:rPr>
              <a:t>Metrics, behaviours, Good/Great/Excellent standards. Three-month structured reviews against the Profile.</a:t>
            </a:r>
          </a:p>
        </p:txBody>
      </p:sp>
      <p:sp>
        <p:nvSpPr>
          <p:cNvPr id="13" name="TextBox 12"/>
          <p:cNvSpPr txBox="1"/>
          <p:nvPr/>
        </p:nvSpPr>
        <p:spPr>
          <a:xfrm>
            <a:off x="822960" y="4434840"/>
            <a:ext cx="3017520" cy="203200"/>
          </a:xfrm>
          <a:prstGeom prst="rect">
            <a:avLst/>
          </a:prstGeom>
          <a:noFill/>
        </p:spPr>
        <p:txBody>
          <a:bodyPr wrap="square">
            <a:spAutoFit/>
          </a:bodyPr>
          <a:lstStyle/>
          <a:p>
            <a:pPr algn="l"/>
            <a:r>
              <a:rPr sz="800" b="0" i="0">
                <a:solidFill>
                  <a:srgbClr val="E6007E"/>
                </a:solidFill>
                <a:latin typeface="Calibri"/>
              </a:rPr>
              <a:t>03 · Continuous feedback</a:t>
            </a:r>
          </a:p>
        </p:txBody>
      </p:sp>
      <p:sp>
        <p:nvSpPr>
          <p:cNvPr id="14" name="TextBox 13"/>
          <p:cNvSpPr txBox="1"/>
          <p:nvPr/>
        </p:nvSpPr>
        <p:spPr>
          <a:xfrm>
            <a:off x="822960" y="4636008"/>
            <a:ext cx="3017520" cy="254000"/>
          </a:xfrm>
          <a:prstGeom prst="rect">
            <a:avLst/>
          </a:prstGeom>
          <a:noFill/>
        </p:spPr>
        <p:txBody>
          <a:bodyPr wrap="square">
            <a:spAutoFit/>
          </a:bodyPr>
          <a:lstStyle/>
          <a:p>
            <a:pPr algn="l"/>
            <a:r>
              <a:rPr sz="1200" b="1" i="0">
                <a:solidFill>
                  <a:srgbClr val="1A0918"/>
                </a:solidFill>
                <a:latin typeface="Calibri"/>
              </a:rPr>
              <a:t>Weekly 1:1s + quarterly development</a:t>
            </a:r>
          </a:p>
        </p:txBody>
      </p:sp>
      <p:sp>
        <p:nvSpPr>
          <p:cNvPr id="15" name="TextBox 14"/>
          <p:cNvSpPr txBox="1"/>
          <p:nvPr/>
        </p:nvSpPr>
        <p:spPr>
          <a:xfrm>
            <a:off x="822960" y="4892040"/>
            <a:ext cx="3017520" cy="457200"/>
          </a:xfrm>
          <a:prstGeom prst="rect">
            <a:avLst/>
          </a:prstGeom>
          <a:noFill/>
        </p:spPr>
        <p:txBody>
          <a:bodyPr wrap="square">
            <a:spAutoFit/>
          </a:bodyPr>
          <a:lstStyle/>
          <a:p>
            <a:pPr algn="l"/>
            <a:r>
              <a:rPr sz="1000" b="0" i="0">
                <a:solidFill>
                  <a:srgbClr val="4A2F47"/>
                </a:solidFill>
                <a:latin typeface="Calibri"/>
              </a:rPr>
              <a:t>Focused on performance and unblocking. Biannual upward manager review.</a:t>
            </a:r>
          </a:p>
        </p:txBody>
      </p:sp>
      <p:sp>
        <p:nvSpPr>
          <p:cNvPr id="16" name="TextBox 15"/>
          <p:cNvSpPr txBox="1"/>
          <p:nvPr/>
        </p:nvSpPr>
        <p:spPr>
          <a:xfrm>
            <a:off x="822960" y="5486400"/>
            <a:ext cx="3017520" cy="203200"/>
          </a:xfrm>
          <a:prstGeom prst="rect">
            <a:avLst/>
          </a:prstGeom>
          <a:noFill/>
        </p:spPr>
        <p:txBody>
          <a:bodyPr wrap="square">
            <a:spAutoFit/>
          </a:bodyPr>
          <a:lstStyle/>
          <a:p>
            <a:pPr algn="l"/>
            <a:r>
              <a:rPr sz="800" b="0" i="0">
                <a:solidFill>
                  <a:srgbClr val="E6007E"/>
                </a:solidFill>
                <a:latin typeface="Calibri"/>
              </a:rPr>
              <a:t>04 · Reward</a:t>
            </a:r>
          </a:p>
        </p:txBody>
      </p:sp>
      <p:sp>
        <p:nvSpPr>
          <p:cNvPr id="17" name="TextBox 16"/>
          <p:cNvSpPr txBox="1"/>
          <p:nvPr/>
        </p:nvSpPr>
        <p:spPr>
          <a:xfrm>
            <a:off x="822960" y="5687568"/>
            <a:ext cx="3017520" cy="254000"/>
          </a:xfrm>
          <a:prstGeom prst="rect">
            <a:avLst/>
          </a:prstGeom>
          <a:noFill/>
        </p:spPr>
        <p:txBody>
          <a:bodyPr wrap="square">
            <a:spAutoFit/>
          </a:bodyPr>
          <a:lstStyle/>
          <a:p>
            <a:pPr algn="l"/>
            <a:r>
              <a:rPr sz="1200" b="1" i="0">
                <a:solidFill>
                  <a:srgbClr val="1A0918"/>
                </a:solidFill>
                <a:latin typeface="Calibri"/>
              </a:rPr>
              <a:t>50th percentile + performance variable</a:t>
            </a:r>
          </a:p>
        </p:txBody>
      </p:sp>
      <p:sp>
        <p:nvSpPr>
          <p:cNvPr id="18" name="TextBox 17"/>
          <p:cNvSpPr txBox="1"/>
          <p:nvPr/>
        </p:nvSpPr>
        <p:spPr>
          <a:xfrm>
            <a:off x="822960" y="5943600"/>
            <a:ext cx="3017520" cy="457200"/>
          </a:xfrm>
          <a:prstGeom prst="rect">
            <a:avLst/>
          </a:prstGeom>
          <a:noFill/>
        </p:spPr>
        <p:txBody>
          <a:bodyPr wrap="square">
            <a:spAutoFit/>
          </a:bodyPr>
          <a:lstStyle/>
          <a:p>
            <a:pPr algn="l"/>
            <a:r>
              <a:rPr sz="1000" b="0" i="0">
                <a:solidFill>
                  <a:srgbClr val="4A2F47"/>
                </a:solidFill>
                <a:latin typeface="Calibri"/>
              </a:rPr>
              <a:t>Equity philosophy that wins senior hires on trajectory. Transparent reward criteria.</a:t>
            </a:r>
          </a:p>
        </p:txBody>
      </p:sp>
      <p:sp>
        <p:nvSpPr>
          <p:cNvPr id="19" name="Rectangle 18"/>
          <p:cNvSpPr/>
          <p:nvPr/>
        </p:nvSpPr>
        <p:spPr>
          <a:xfrm>
            <a:off x="3977639" y="2331720"/>
            <a:ext cx="7388352" cy="42062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69079" y="2404872"/>
            <a:ext cx="2743200" cy="228600"/>
          </a:xfrm>
          <a:prstGeom prst="rect">
            <a:avLst/>
          </a:prstGeom>
          <a:noFill/>
        </p:spPr>
        <p:txBody>
          <a:bodyPr wrap="square">
            <a:spAutoFit/>
          </a:bodyPr>
          <a:lstStyle/>
          <a:p>
            <a:pPr algn="l"/>
            <a:r>
              <a:rPr sz="800" b="0" i="0">
                <a:solidFill>
                  <a:srgbClr val="8A7585"/>
                </a:solidFill>
                <a:latin typeface="Calibri"/>
              </a:rPr>
              <a:t>Job description today</a:t>
            </a:r>
          </a:p>
        </p:txBody>
      </p:sp>
      <p:sp>
        <p:nvSpPr>
          <p:cNvPr id="21" name="TextBox 20"/>
          <p:cNvSpPr txBox="1"/>
          <p:nvPr/>
        </p:nvSpPr>
        <p:spPr>
          <a:xfrm>
            <a:off x="6812279" y="2404872"/>
            <a:ext cx="4572000" cy="228600"/>
          </a:xfrm>
          <a:prstGeom prst="rect">
            <a:avLst/>
          </a:prstGeom>
          <a:noFill/>
        </p:spPr>
        <p:txBody>
          <a:bodyPr wrap="square">
            <a:spAutoFit/>
          </a:bodyPr>
          <a:lstStyle/>
          <a:p>
            <a:pPr algn="l"/>
            <a:r>
              <a:rPr sz="800" b="0" i="0">
                <a:solidFill>
                  <a:srgbClr val="E6007E"/>
                </a:solidFill>
                <a:latin typeface="Calibri"/>
              </a:rPr>
              <a:t>Impact Profile · what success looks like</a:t>
            </a:r>
          </a:p>
        </p:txBody>
      </p:sp>
      <p:sp>
        <p:nvSpPr>
          <p:cNvPr id="22" name="TextBox 21"/>
          <p:cNvSpPr txBox="1"/>
          <p:nvPr/>
        </p:nvSpPr>
        <p:spPr>
          <a:xfrm>
            <a:off x="4069079" y="2688336"/>
            <a:ext cx="2651760" cy="566928"/>
          </a:xfrm>
          <a:prstGeom prst="rect">
            <a:avLst/>
          </a:prstGeom>
          <a:noFill/>
        </p:spPr>
        <p:txBody>
          <a:bodyPr wrap="square">
            <a:spAutoFit/>
          </a:bodyPr>
          <a:lstStyle/>
          <a:p>
            <a:pPr algn="l"/>
            <a:r>
              <a:rPr sz="1000" b="0" i="0">
                <a:solidFill>
                  <a:srgbClr val="4A2F47"/>
                </a:solidFill>
                <a:latin typeface="Calibri"/>
              </a:rPr>
              <a:t>Guide new customers through onboarding</a:t>
            </a:r>
          </a:p>
        </p:txBody>
      </p:sp>
      <p:sp>
        <p:nvSpPr>
          <p:cNvPr id="23" name="TextBox 22"/>
          <p:cNvSpPr txBox="1"/>
          <p:nvPr/>
        </p:nvSpPr>
        <p:spPr>
          <a:xfrm>
            <a:off x="6812279" y="2688336"/>
            <a:ext cx="4480560" cy="566928"/>
          </a:xfrm>
          <a:prstGeom prst="rect">
            <a:avLst/>
          </a:prstGeom>
          <a:noFill/>
        </p:spPr>
        <p:txBody>
          <a:bodyPr wrap="square">
            <a:spAutoFit/>
          </a:bodyPr>
          <a:lstStyle/>
          <a:p>
            <a:pPr algn="l"/>
            <a:r>
              <a:rPr sz="1000" b="0" i="0">
                <a:solidFill>
                  <a:srgbClr val="1A0918"/>
                </a:solidFill>
                <a:latin typeface="Calibri"/>
              </a:rPr>
              <a:t>Time to first booking ≤ 21 days; time to first £10k revenue ≤ 60 days; configuration accuracy ≥ 95%</a:t>
            </a:r>
          </a:p>
        </p:txBody>
      </p:sp>
      <p:sp>
        <p:nvSpPr>
          <p:cNvPr id="24" name="TextBox 23"/>
          <p:cNvSpPr txBox="1"/>
          <p:nvPr/>
        </p:nvSpPr>
        <p:spPr>
          <a:xfrm>
            <a:off x="4069079" y="3310128"/>
            <a:ext cx="2651760" cy="566928"/>
          </a:xfrm>
          <a:prstGeom prst="rect">
            <a:avLst/>
          </a:prstGeom>
          <a:noFill/>
        </p:spPr>
        <p:txBody>
          <a:bodyPr wrap="square">
            <a:spAutoFit/>
          </a:bodyPr>
          <a:lstStyle/>
          <a:p>
            <a:pPr algn="l"/>
            <a:r>
              <a:rPr sz="1000" b="0" i="0">
                <a:solidFill>
                  <a:srgbClr val="4A2F47"/>
                </a:solidFill>
                <a:latin typeface="Calibri"/>
              </a:rPr>
              <a:t>Deliver training and product demos</a:t>
            </a:r>
          </a:p>
        </p:txBody>
      </p:sp>
      <p:sp>
        <p:nvSpPr>
          <p:cNvPr id="25" name="TextBox 24"/>
          <p:cNvSpPr txBox="1"/>
          <p:nvPr/>
        </p:nvSpPr>
        <p:spPr>
          <a:xfrm>
            <a:off x="6812279" y="3310128"/>
            <a:ext cx="4480560" cy="566928"/>
          </a:xfrm>
          <a:prstGeom prst="rect">
            <a:avLst/>
          </a:prstGeom>
          <a:noFill/>
        </p:spPr>
        <p:txBody>
          <a:bodyPr wrap="square">
            <a:spAutoFit/>
          </a:bodyPr>
          <a:lstStyle/>
          <a:p>
            <a:pPr algn="l"/>
            <a:r>
              <a:rPr sz="1000" b="0" i="0">
                <a:solidFill>
                  <a:srgbClr val="1A0918"/>
                </a:solidFill>
                <a:latin typeface="Calibri"/>
              </a:rPr>
              <a:t>Training completion ≥ 95%; customer self-sufficiency at go-live</a:t>
            </a:r>
          </a:p>
        </p:txBody>
      </p:sp>
      <p:sp>
        <p:nvSpPr>
          <p:cNvPr id="26" name="TextBox 25"/>
          <p:cNvSpPr txBox="1"/>
          <p:nvPr/>
        </p:nvSpPr>
        <p:spPr>
          <a:xfrm>
            <a:off x="4069079" y="3931920"/>
            <a:ext cx="2651760" cy="566928"/>
          </a:xfrm>
          <a:prstGeom prst="rect">
            <a:avLst/>
          </a:prstGeom>
          <a:noFill/>
        </p:spPr>
        <p:txBody>
          <a:bodyPr wrap="square">
            <a:spAutoFit/>
          </a:bodyPr>
          <a:lstStyle/>
          <a:p>
            <a:pPr algn="l"/>
            <a:r>
              <a:rPr sz="1000" b="0" i="0">
                <a:solidFill>
                  <a:srgbClr val="4A2F47"/>
                </a:solidFill>
                <a:latin typeface="Calibri"/>
              </a:rPr>
              <a:t>Be the main point of contact through handover</a:t>
            </a:r>
          </a:p>
        </p:txBody>
      </p:sp>
      <p:sp>
        <p:nvSpPr>
          <p:cNvPr id="27" name="TextBox 26"/>
          <p:cNvSpPr txBox="1"/>
          <p:nvPr/>
        </p:nvSpPr>
        <p:spPr>
          <a:xfrm>
            <a:off x="6812279" y="3931920"/>
            <a:ext cx="4480560" cy="566928"/>
          </a:xfrm>
          <a:prstGeom prst="rect">
            <a:avLst/>
          </a:prstGeom>
          <a:noFill/>
        </p:spPr>
        <p:txBody>
          <a:bodyPr wrap="square">
            <a:spAutoFit/>
          </a:bodyPr>
          <a:lstStyle/>
          <a:p>
            <a:pPr algn="l"/>
            <a:r>
              <a:rPr sz="1000" b="0" i="0">
                <a:solidFill>
                  <a:srgbClr val="1A0918"/>
                </a:solidFill>
                <a:latin typeface="Calibri"/>
              </a:rPr>
              <a:t>Customer health at 90 days ≥ 8/10; handover quality ≥ 9/10; zero unresolved blockers at handover</a:t>
            </a:r>
          </a:p>
        </p:txBody>
      </p:sp>
      <p:sp>
        <p:nvSpPr>
          <p:cNvPr id="28" name="TextBox 27"/>
          <p:cNvSpPr txBox="1"/>
          <p:nvPr/>
        </p:nvSpPr>
        <p:spPr>
          <a:xfrm>
            <a:off x="4069079" y="4553712"/>
            <a:ext cx="2651760" cy="566928"/>
          </a:xfrm>
          <a:prstGeom prst="rect">
            <a:avLst/>
          </a:prstGeom>
          <a:noFill/>
        </p:spPr>
        <p:txBody>
          <a:bodyPr wrap="square">
            <a:spAutoFit/>
          </a:bodyPr>
          <a:lstStyle/>
          <a:p>
            <a:pPr algn="l"/>
            <a:r>
              <a:rPr sz="1000" b="0" i="0">
                <a:solidFill>
                  <a:srgbClr val="4A2F47"/>
                </a:solidFill>
                <a:latin typeface="Calibri"/>
              </a:rPr>
              <a:t>Collaborate cross-functionally</a:t>
            </a:r>
          </a:p>
        </p:txBody>
      </p:sp>
      <p:sp>
        <p:nvSpPr>
          <p:cNvPr id="29" name="TextBox 28"/>
          <p:cNvSpPr txBox="1"/>
          <p:nvPr/>
        </p:nvSpPr>
        <p:spPr>
          <a:xfrm>
            <a:off x="6812279" y="4553712"/>
            <a:ext cx="4480560" cy="566928"/>
          </a:xfrm>
          <a:prstGeom prst="rect">
            <a:avLst/>
          </a:prstGeom>
          <a:noFill/>
        </p:spPr>
        <p:txBody>
          <a:bodyPr wrap="square">
            <a:spAutoFit/>
          </a:bodyPr>
          <a:lstStyle/>
          <a:p>
            <a:pPr algn="l"/>
            <a:r>
              <a:rPr sz="1000" b="0" i="0">
                <a:solidFill>
                  <a:srgbClr val="1A0918"/>
                </a:solidFill>
                <a:latin typeface="Calibri"/>
              </a:rPr>
              <a:t>Issue resolution ≤ 48 hours; sales handover satisfaction ≥ 9/10</a:t>
            </a:r>
          </a:p>
        </p:txBody>
      </p:sp>
      <p:sp>
        <p:nvSpPr>
          <p:cNvPr id="30" name="TextBox 29"/>
          <p:cNvSpPr txBox="1"/>
          <p:nvPr/>
        </p:nvSpPr>
        <p:spPr>
          <a:xfrm>
            <a:off x="4069079" y="5175504"/>
            <a:ext cx="2651760" cy="566928"/>
          </a:xfrm>
          <a:prstGeom prst="rect">
            <a:avLst/>
          </a:prstGeom>
          <a:noFill/>
        </p:spPr>
        <p:txBody>
          <a:bodyPr wrap="square">
            <a:spAutoFit/>
          </a:bodyPr>
          <a:lstStyle/>
          <a:p>
            <a:pPr algn="l"/>
            <a:r>
              <a:rPr sz="1000" b="0" i="0">
                <a:solidFill>
                  <a:srgbClr val="4A2F47"/>
                </a:solidFill>
                <a:latin typeface="Calibri"/>
              </a:rPr>
              <a:t>Improve onboarding processes</a:t>
            </a:r>
          </a:p>
        </p:txBody>
      </p:sp>
      <p:sp>
        <p:nvSpPr>
          <p:cNvPr id="31" name="TextBox 30"/>
          <p:cNvSpPr txBox="1"/>
          <p:nvPr/>
        </p:nvSpPr>
        <p:spPr>
          <a:xfrm>
            <a:off x="6812279" y="5175504"/>
            <a:ext cx="4480560" cy="566928"/>
          </a:xfrm>
          <a:prstGeom prst="rect">
            <a:avLst/>
          </a:prstGeom>
          <a:noFill/>
        </p:spPr>
        <p:txBody>
          <a:bodyPr wrap="square">
            <a:spAutoFit/>
          </a:bodyPr>
          <a:lstStyle/>
          <a:p>
            <a:pPr algn="l"/>
            <a:r>
              <a:rPr sz="1000" b="0" i="0">
                <a:solidFill>
                  <a:srgbClr val="1A0918"/>
                </a:solidFill>
                <a:latin typeface="Calibri"/>
              </a:rPr>
              <a:t>Process improvements shipped ≥ 1 per quarter; contributions to the configuration library</a:t>
            </a:r>
          </a:p>
        </p:txBody>
      </p:sp>
      <p:sp>
        <p:nvSpPr>
          <p:cNvPr id="32" name="TextBox 31"/>
          <p:cNvSpPr txBox="1"/>
          <p:nvPr/>
        </p:nvSpPr>
        <p:spPr>
          <a:xfrm>
            <a:off x="4069079" y="5797296"/>
            <a:ext cx="2651760" cy="566928"/>
          </a:xfrm>
          <a:prstGeom prst="rect">
            <a:avLst/>
          </a:prstGeom>
          <a:noFill/>
        </p:spPr>
        <p:txBody>
          <a:bodyPr wrap="square">
            <a:spAutoFit/>
          </a:bodyPr>
          <a:lstStyle/>
          <a:p>
            <a:pPr algn="l"/>
            <a:r>
              <a:rPr sz="1000" b="0" i="0">
                <a:solidFill>
                  <a:srgbClr val="4A2F47"/>
                </a:solidFill>
                <a:latin typeface="Calibri"/>
              </a:rPr>
              <a:t>German market: translation and support</a:t>
            </a:r>
          </a:p>
        </p:txBody>
      </p:sp>
      <p:sp>
        <p:nvSpPr>
          <p:cNvPr id="33" name="TextBox 32"/>
          <p:cNvSpPr txBox="1"/>
          <p:nvPr/>
        </p:nvSpPr>
        <p:spPr>
          <a:xfrm>
            <a:off x="6812279" y="5797296"/>
            <a:ext cx="4480560" cy="566928"/>
          </a:xfrm>
          <a:prstGeom prst="rect">
            <a:avLst/>
          </a:prstGeom>
          <a:noFill/>
        </p:spPr>
        <p:txBody>
          <a:bodyPr wrap="square">
            <a:spAutoFit/>
          </a:bodyPr>
          <a:lstStyle/>
          <a:p>
            <a:pPr algn="l"/>
            <a:r>
              <a:rPr sz="1000" b="0" i="0">
                <a:solidFill>
                  <a:srgbClr val="1A0918"/>
                </a:solidFill>
                <a:latin typeface="Calibri"/>
              </a:rPr>
              <a:t>KB German coverage ≥ 90% of EN within 6 months; German market NPS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07 · Commercial value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The operational gameshare</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Where People work creates commercial value.</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Three operational redesigns that change the unit economics. Each one is a People function intervention with a commercial number attached.</a:t>
            </a:r>
          </a:p>
        </p:txBody>
      </p:sp>
      <p:sp>
        <p:nvSpPr>
          <p:cNvPr id="7" name="Rectangle 6"/>
          <p:cNvSpPr/>
          <p:nvPr/>
        </p:nvSpPr>
        <p:spPr>
          <a:xfrm>
            <a:off x="822960" y="2423160"/>
            <a:ext cx="3474720" cy="315468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42032"/>
            <a:ext cx="3200400" cy="228600"/>
          </a:xfrm>
          <a:prstGeom prst="rect">
            <a:avLst/>
          </a:prstGeom>
          <a:noFill/>
        </p:spPr>
        <p:txBody>
          <a:bodyPr wrap="square">
            <a:spAutoFit/>
          </a:bodyPr>
          <a:lstStyle/>
          <a:p>
            <a:pPr algn="l"/>
            <a:r>
              <a:rPr sz="800" b="0" i="0">
                <a:solidFill>
                  <a:srgbClr val="E6007E"/>
                </a:solidFill>
                <a:latin typeface="Calibri"/>
              </a:rPr>
              <a:t>01 · Customer onboarding</a:t>
            </a:r>
          </a:p>
        </p:txBody>
      </p:sp>
      <p:sp>
        <p:nvSpPr>
          <p:cNvPr id="9" name="TextBox 8"/>
          <p:cNvSpPr txBox="1"/>
          <p:nvPr/>
        </p:nvSpPr>
        <p:spPr>
          <a:xfrm>
            <a:off x="960120" y="2724912"/>
            <a:ext cx="3200400" cy="304800"/>
          </a:xfrm>
          <a:prstGeom prst="rect">
            <a:avLst/>
          </a:prstGeom>
          <a:noFill/>
        </p:spPr>
        <p:txBody>
          <a:bodyPr wrap="square">
            <a:spAutoFit/>
          </a:bodyPr>
          <a:lstStyle/>
          <a:p>
            <a:pPr algn="l"/>
            <a:r>
              <a:rPr sz="1400" b="1" i="0">
                <a:solidFill>
                  <a:srgbClr val="1A0918"/>
                </a:solidFill>
                <a:latin typeface="Calibri"/>
              </a:rPr>
              <a:t>Onboarding cost per property</a:t>
            </a:r>
          </a:p>
        </p:txBody>
      </p:sp>
      <p:sp>
        <p:nvSpPr>
          <p:cNvPr id="10" name="TextBox 9"/>
          <p:cNvSpPr txBox="1"/>
          <p:nvPr/>
        </p:nvSpPr>
        <p:spPr>
          <a:xfrm>
            <a:off x="960120" y="3035808"/>
            <a:ext cx="3200400" cy="1554480"/>
          </a:xfrm>
          <a:prstGeom prst="rect">
            <a:avLst/>
          </a:prstGeom>
          <a:noFill/>
        </p:spPr>
        <p:txBody>
          <a:bodyPr wrap="square">
            <a:spAutoFit/>
          </a:bodyPr>
          <a:lstStyle/>
          <a:p>
            <a:pPr algn="l"/>
            <a:r>
              <a:rPr sz="1000" b="0" i="0">
                <a:solidFill>
                  <a:srgbClr val="4A2F47"/>
                </a:solidFill>
                <a:latin typeface="Calibri"/>
              </a:rPr>
              <a:t>8 onboarders, ~400 properties. Every setup done from scratch. The redesign: three specialised functions (architect, partner, ops), templated configuration library, AI on data migration, menu translation, intake forms, training collateral.</a:t>
            </a:r>
          </a:p>
        </p:txBody>
      </p:sp>
      <p:sp>
        <p:nvSpPr>
          <p:cNvPr id="11" name="TextBox 10"/>
          <p:cNvSpPr txBox="1"/>
          <p:nvPr/>
        </p:nvSpPr>
        <p:spPr>
          <a:xfrm>
            <a:off x="960120" y="5047488"/>
            <a:ext cx="3200400" cy="254000"/>
          </a:xfrm>
          <a:prstGeom prst="rect">
            <a:avLst/>
          </a:prstGeom>
          <a:noFill/>
        </p:spPr>
        <p:txBody>
          <a:bodyPr wrap="square">
            <a:spAutoFit/>
          </a:bodyPr>
          <a:lstStyle/>
          <a:p>
            <a:pPr algn="l"/>
            <a:r>
              <a:rPr sz="900" b="0" i="0">
                <a:solidFill>
                  <a:srgbClr val="E6007E"/>
                </a:solidFill>
                <a:latin typeface="Calibri"/>
              </a:rPr>
              <a:t>Avoided hiring: ~£400–600k/yr · Concurrent load per person doubles</a:t>
            </a:r>
          </a:p>
        </p:txBody>
      </p:sp>
      <p:sp>
        <p:nvSpPr>
          <p:cNvPr id="12" name="Rectangle 11"/>
          <p:cNvSpPr/>
          <p:nvPr/>
        </p:nvSpPr>
        <p:spPr>
          <a:xfrm>
            <a:off x="4416552" y="2423160"/>
            <a:ext cx="3474720" cy="315468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542032"/>
            <a:ext cx="3200400" cy="228600"/>
          </a:xfrm>
          <a:prstGeom prst="rect">
            <a:avLst/>
          </a:prstGeom>
          <a:noFill/>
        </p:spPr>
        <p:txBody>
          <a:bodyPr wrap="square">
            <a:spAutoFit/>
          </a:bodyPr>
          <a:lstStyle/>
          <a:p>
            <a:pPr algn="l"/>
            <a:r>
              <a:rPr sz="800" b="0" i="0">
                <a:solidFill>
                  <a:srgbClr val="E6007E"/>
                </a:solidFill>
                <a:latin typeface="Calibri"/>
              </a:rPr>
              <a:t>02 · Sales and BD</a:t>
            </a:r>
          </a:p>
        </p:txBody>
      </p:sp>
      <p:sp>
        <p:nvSpPr>
          <p:cNvPr id="14" name="TextBox 13"/>
          <p:cNvSpPr txBox="1"/>
          <p:nvPr/>
        </p:nvSpPr>
        <p:spPr>
          <a:xfrm>
            <a:off x="4553712" y="2724912"/>
            <a:ext cx="3200400" cy="304800"/>
          </a:xfrm>
          <a:prstGeom prst="rect">
            <a:avLst/>
          </a:prstGeom>
          <a:noFill/>
        </p:spPr>
        <p:txBody>
          <a:bodyPr wrap="square">
            <a:spAutoFit/>
          </a:bodyPr>
          <a:lstStyle/>
          <a:p>
            <a:pPr algn="l"/>
            <a:r>
              <a:rPr sz="1400" b="1" i="0">
                <a:solidFill>
                  <a:srgbClr val="1A0918"/>
                </a:solidFill>
                <a:latin typeface="Calibri"/>
              </a:rPr>
              <a:t>Sales productivity</a:t>
            </a:r>
          </a:p>
        </p:txBody>
      </p:sp>
      <p:sp>
        <p:nvSpPr>
          <p:cNvPr id="15" name="TextBox 14"/>
          <p:cNvSpPr txBox="1"/>
          <p:nvPr/>
        </p:nvSpPr>
        <p:spPr>
          <a:xfrm>
            <a:off x="4553712" y="3035808"/>
            <a:ext cx="3200400" cy="1554480"/>
          </a:xfrm>
          <a:prstGeom prst="rect">
            <a:avLst/>
          </a:prstGeom>
          <a:noFill/>
        </p:spPr>
        <p:txBody>
          <a:bodyPr wrap="square">
            <a:spAutoFit/>
          </a:bodyPr>
          <a:lstStyle/>
          <a:p>
            <a:pPr algn="l"/>
            <a:r>
              <a:rPr sz="1000" b="0" i="0">
                <a:solidFill>
                  <a:srgbClr val="4A2F47"/>
                </a:solidFill>
                <a:latin typeface="Calibri"/>
              </a:rPr>
              <a:t>11 people in sales and BD, heavily weighted to BDRs doing manual prospecting. The redesign: AI handles list-building, enrichment, first-touch personalisation, follow-up cadences. Humans handle discovery, demo, negotiation, close.</a:t>
            </a:r>
          </a:p>
        </p:txBody>
      </p:sp>
      <p:sp>
        <p:nvSpPr>
          <p:cNvPr id="16" name="TextBox 15"/>
          <p:cNvSpPr txBox="1"/>
          <p:nvPr/>
        </p:nvSpPr>
        <p:spPr>
          <a:xfrm>
            <a:off x="4553712" y="5047488"/>
            <a:ext cx="3200400" cy="254000"/>
          </a:xfrm>
          <a:prstGeom prst="rect">
            <a:avLst/>
          </a:prstGeom>
          <a:noFill/>
        </p:spPr>
        <p:txBody>
          <a:bodyPr wrap="square">
            <a:spAutoFit/>
          </a:bodyPr>
          <a:lstStyle/>
          <a:p>
            <a:pPr algn="l"/>
            <a:r>
              <a:rPr sz="900" b="0" i="0">
                <a:solidFill>
                  <a:srgbClr val="E6007E"/>
                </a:solidFill>
                <a:latin typeface="Calibri"/>
              </a:rPr>
              <a:t>Avoided hiring: ~£200–300k/yr · Pipeline quality improves</a:t>
            </a:r>
          </a:p>
        </p:txBody>
      </p:sp>
      <p:sp>
        <p:nvSpPr>
          <p:cNvPr id="17" name="Rectangle 16"/>
          <p:cNvSpPr/>
          <p:nvPr/>
        </p:nvSpPr>
        <p:spPr>
          <a:xfrm>
            <a:off x="8010144" y="2423160"/>
            <a:ext cx="3474720" cy="315468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2542032"/>
            <a:ext cx="3200400" cy="228600"/>
          </a:xfrm>
          <a:prstGeom prst="rect">
            <a:avLst/>
          </a:prstGeom>
          <a:noFill/>
        </p:spPr>
        <p:txBody>
          <a:bodyPr wrap="square">
            <a:spAutoFit/>
          </a:bodyPr>
          <a:lstStyle/>
          <a:p>
            <a:pPr algn="l"/>
            <a:r>
              <a:rPr sz="800" b="0" i="0">
                <a:solidFill>
                  <a:srgbClr val="E6007E"/>
                </a:solidFill>
                <a:latin typeface="Calibri"/>
              </a:rPr>
              <a:t>03 · Customer success</a:t>
            </a:r>
          </a:p>
        </p:txBody>
      </p:sp>
      <p:sp>
        <p:nvSpPr>
          <p:cNvPr id="19" name="TextBox 18"/>
          <p:cNvSpPr txBox="1"/>
          <p:nvPr/>
        </p:nvSpPr>
        <p:spPr>
          <a:xfrm>
            <a:off x="8147304" y="2724912"/>
            <a:ext cx="3200400" cy="304800"/>
          </a:xfrm>
          <a:prstGeom prst="rect">
            <a:avLst/>
          </a:prstGeom>
          <a:noFill/>
        </p:spPr>
        <p:txBody>
          <a:bodyPr wrap="square">
            <a:spAutoFit/>
          </a:bodyPr>
          <a:lstStyle/>
          <a:p>
            <a:pPr algn="l"/>
            <a:r>
              <a:rPr sz="1400" b="1" i="0">
                <a:solidFill>
                  <a:srgbClr val="1A0918"/>
                </a:solidFill>
                <a:latin typeface="Calibri"/>
              </a:rPr>
              <a:t>Expansion revenue from existing customers</a:t>
            </a:r>
          </a:p>
        </p:txBody>
      </p:sp>
      <p:sp>
        <p:nvSpPr>
          <p:cNvPr id="20" name="TextBox 19"/>
          <p:cNvSpPr txBox="1"/>
          <p:nvPr/>
        </p:nvSpPr>
        <p:spPr>
          <a:xfrm>
            <a:off x="8147304" y="3035808"/>
            <a:ext cx="3200400" cy="1554480"/>
          </a:xfrm>
          <a:prstGeom prst="rect">
            <a:avLst/>
          </a:prstGeom>
          <a:noFill/>
        </p:spPr>
        <p:txBody>
          <a:bodyPr wrap="square">
            <a:spAutoFit/>
          </a:bodyPr>
          <a:lstStyle/>
          <a:p>
            <a:pPr algn="l"/>
            <a:r>
              <a:rPr sz="1000" b="0" i="0">
                <a:solidFill>
                  <a:srgbClr val="4A2F47"/>
                </a:solidFill>
                <a:latin typeface="Calibri"/>
              </a:rPr>
              <a:t>3 people in CX, structured for support tickets rather than account expansion. The redesign: CS becomes a strategic function owning expansion revenue. AI handles tier-one tickets. Humans handle commercial conversations and account growth.</a:t>
            </a:r>
          </a:p>
        </p:txBody>
      </p:sp>
      <p:sp>
        <p:nvSpPr>
          <p:cNvPr id="21" name="TextBox 20"/>
          <p:cNvSpPr txBox="1"/>
          <p:nvPr/>
        </p:nvSpPr>
        <p:spPr>
          <a:xfrm>
            <a:off x="8147304" y="5047488"/>
            <a:ext cx="3200400" cy="254000"/>
          </a:xfrm>
          <a:prstGeom prst="rect">
            <a:avLst/>
          </a:prstGeom>
          <a:noFill/>
        </p:spPr>
        <p:txBody>
          <a:bodyPr wrap="square">
            <a:spAutoFit/>
          </a:bodyPr>
          <a:lstStyle/>
          <a:p>
            <a:pPr algn="l"/>
            <a:r>
              <a:rPr sz="900" b="0" i="0">
                <a:solidFill>
                  <a:srgbClr val="E6007E"/>
                </a:solidFill>
                <a:latin typeface="Calibri"/>
              </a:rPr>
              <a:t>NRR from 100% → 115–120% = £600k–1m+/yr compounding</a:t>
            </a:r>
          </a:p>
        </p:txBody>
      </p:sp>
      <p:sp>
        <p:nvSpPr>
          <p:cNvPr id="22" name="Rectangle 21"/>
          <p:cNvSpPr/>
          <p:nvPr/>
        </p:nvSpPr>
        <p:spPr>
          <a:xfrm>
            <a:off x="822960" y="5760720"/>
            <a:ext cx="10515600" cy="7772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870448"/>
            <a:ext cx="8229600" cy="594360"/>
          </a:xfrm>
          <a:prstGeom prst="rect">
            <a:avLst/>
          </a:prstGeom>
          <a:noFill/>
        </p:spPr>
        <p:txBody>
          <a:bodyPr wrap="square">
            <a:spAutoFit/>
          </a:bodyPr>
          <a:lstStyle/>
          <a:p>
            <a:pPr algn="l"/>
            <a:r>
              <a:rPr sz="1300" b="0" i="0">
                <a:solidFill>
                  <a:srgbClr val="1A0918"/>
                </a:solidFill>
                <a:latin typeface="Calibri"/>
              </a:rPr>
              <a:t>Combined: approximately £1.2–2m per year by year two, compounding from there. The Head of People role costs roughly £150–200k all-in.</a:t>
            </a:r>
          </a:p>
        </p:txBody>
      </p:sp>
      <p:sp>
        <p:nvSpPr>
          <p:cNvPr id="24" name="TextBox 23"/>
          <p:cNvSpPr txBox="1"/>
          <p:nvPr/>
        </p:nvSpPr>
        <p:spPr>
          <a:xfrm>
            <a:off x="9326880" y="5833872"/>
            <a:ext cx="1828800" cy="640080"/>
          </a:xfrm>
          <a:prstGeom prst="rect">
            <a:avLst/>
          </a:prstGeom>
          <a:noFill/>
        </p:spPr>
        <p:txBody>
          <a:bodyPr wrap="square">
            <a:spAutoFit/>
          </a:bodyPr>
          <a:lstStyle/>
          <a:p>
            <a:pPr algn="r"/>
            <a:r>
              <a:rPr sz="900" b="0" i="0">
                <a:solidFill>
                  <a:srgbClr val="8A7585"/>
                </a:solidFill>
                <a:latin typeface="Calibri"/>
              </a:rPr>
              <a:t>Role pays for itself 6–10× before
performance, culture, or retention
work is counted.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08 · Development, flight risk, succession</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Talent management</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One system, three answers.</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Development, flight risk and succession are all outputs of the same performance system — not three separate programmes.</a:t>
            </a:r>
          </a:p>
        </p:txBody>
      </p:sp>
      <p:sp>
        <p:nvSpPr>
          <p:cNvPr id="7" name="Rectangle 6"/>
          <p:cNvSpPr/>
          <p:nvPr/>
        </p:nvSpPr>
        <p:spPr>
          <a:xfrm>
            <a:off x="822960" y="2377440"/>
            <a:ext cx="5166360" cy="20574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87168"/>
            <a:ext cx="4983480" cy="203200"/>
          </a:xfrm>
          <a:prstGeom prst="rect">
            <a:avLst/>
          </a:prstGeom>
          <a:noFill/>
        </p:spPr>
        <p:txBody>
          <a:bodyPr wrap="square">
            <a:spAutoFit/>
          </a:bodyPr>
          <a:lstStyle/>
          <a:p>
            <a:pPr algn="l"/>
            <a:r>
              <a:rPr sz="800" b="0" i="0">
                <a:solidFill>
                  <a:srgbClr val="E6007E"/>
                </a:solidFill>
                <a:latin typeface="Calibri"/>
              </a:rPr>
              <a:t>DEVELOPMENT NEEDS</a:t>
            </a:r>
          </a:p>
        </p:txBody>
      </p:sp>
      <p:sp>
        <p:nvSpPr>
          <p:cNvPr id="9" name="TextBox 8"/>
          <p:cNvSpPr txBox="1"/>
          <p:nvPr/>
        </p:nvSpPr>
        <p:spPr>
          <a:xfrm>
            <a:off x="960120" y="2697480"/>
            <a:ext cx="4983480" cy="304800"/>
          </a:xfrm>
          <a:prstGeom prst="rect">
            <a:avLst/>
          </a:prstGeom>
          <a:noFill/>
        </p:spPr>
        <p:txBody>
          <a:bodyPr wrap="square">
            <a:spAutoFit/>
          </a:bodyPr>
          <a:lstStyle/>
          <a:p>
            <a:pPr algn="l"/>
            <a:r>
              <a:rPr sz="1300" b="1" i="0">
                <a:solidFill>
                  <a:srgbClr val="1A0918"/>
                </a:solidFill>
                <a:latin typeface="Calibri"/>
              </a:rPr>
              <a:t>Surface from the gap</a:t>
            </a:r>
          </a:p>
        </p:txBody>
      </p:sp>
      <p:sp>
        <p:nvSpPr>
          <p:cNvPr id="10" name="TextBox 9"/>
          <p:cNvSpPr txBox="1"/>
          <p:nvPr/>
        </p:nvSpPr>
        <p:spPr>
          <a:xfrm>
            <a:off x="960120" y="3017520"/>
            <a:ext cx="4937760" cy="402336"/>
          </a:xfrm>
          <a:prstGeom prst="rect">
            <a:avLst/>
          </a:prstGeom>
          <a:noFill/>
        </p:spPr>
        <p:txBody>
          <a:bodyPr wrap="square">
            <a:spAutoFit/>
          </a:bodyPr>
          <a:lstStyle/>
          <a:p>
            <a:pPr algn="l"/>
            <a:r>
              <a:rPr sz="1000" b="0" i="0">
                <a:solidFill>
                  <a:srgbClr val="4A2F47"/>
                </a:solidFill>
                <a:latin typeface="Calibri"/>
              </a:rPr>
              <a:t>▸  Gap between current performance and Impact Profile standards surfaces in quarterly development conversations</a:t>
            </a:r>
          </a:p>
        </p:txBody>
      </p:sp>
      <p:sp>
        <p:nvSpPr>
          <p:cNvPr id="11" name="TextBox 10"/>
          <p:cNvSpPr txBox="1"/>
          <p:nvPr/>
        </p:nvSpPr>
        <p:spPr>
          <a:xfrm>
            <a:off x="960120" y="3419856"/>
            <a:ext cx="4937760" cy="402336"/>
          </a:xfrm>
          <a:prstGeom prst="rect">
            <a:avLst/>
          </a:prstGeom>
          <a:noFill/>
        </p:spPr>
        <p:txBody>
          <a:bodyPr wrap="square">
            <a:spAutoFit/>
          </a:bodyPr>
          <a:lstStyle/>
          <a:p>
            <a:pPr algn="l"/>
            <a:r>
              <a:rPr sz="1000" b="0" i="0">
                <a:solidFill>
                  <a:srgbClr val="4A2F47"/>
                </a:solidFill>
                <a:latin typeface="Calibri"/>
              </a:rPr>
              <a:t>▸  L&amp;D budget allocated to highest-leverage capability gaps, not generic training</a:t>
            </a:r>
          </a:p>
        </p:txBody>
      </p:sp>
      <p:sp>
        <p:nvSpPr>
          <p:cNvPr id="12" name="TextBox 11"/>
          <p:cNvSpPr txBox="1"/>
          <p:nvPr/>
        </p:nvSpPr>
        <p:spPr>
          <a:xfrm>
            <a:off x="960120" y="3822192"/>
            <a:ext cx="4937760" cy="402336"/>
          </a:xfrm>
          <a:prstGeom prst="rect">
            <a:avLst/>
          </a:prstGeom>
          <a:noFill/>
        </p:spPr>
        <p:txBody>
          <a:bodyPr wrap="square">
            <a:spAutoFit/>
          </a:bodyPr>
          <a:lstStyle/>
          <a:p>
            <a:pPr algn="l"/>
            <a:r>
              <a:rPr sz="1000" b="0" i="0">
                <a:solidFill>
                  <a:srgbClr val="4A2F47"/>
                </a:solidFill>
                <a:latin typeface="Calibri"/>
              </a:rPr>
              <a:t>▸  AI tooling and manager coaching prioritised over external programmes</a:t>
            </a:r>
          </a:p>
        </p:txBody>
      </p:sp>
      <p:sp>
        <p:nvSpPr>
          <p:cNvPr id="13" name="Rectangle 12"/>
          <p:cNvSpPr/>
          <p:nvPr/>
        </p:nvSpPr>
        <p:spPr>
          <a:xfrm>
            <a:off x="6126480" y="2377440"/>
            <a:ext cx="5166360" cy="20574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487168"/>
            <a:ext cx="4983480" cy="203200"/>
          </a:xfrm>
          <a:prstGeom prst="rect">
            <a:avLst/>
          </a:prstGeom>
          <a:noFill/>
        </p:spPr>
        <p:txBody>
          <a:bodyPr wrap="square">
            <a:spAutoFit/>
          </a:bodyPr>
          <a:lstStyle/>
          <a:p>
            <a:pPr algn="l"/>
            <a:r>
              <a:rPr sz="800" b="0" i="0">
                <a:solidFill>
                  <a:srgbClr val="E6007E"/>
                </a:solidFill>
                <a:latin typeface="Calibri"/>
              </a:rPr>
              <a:t>FLIGHT RISKS</a:t>
            </a:r>
          </a:p>
        </p:txBody>
      </p:sp>
      <p:sp>
        <p:nvSpPr>
          <p:cNvPr id="15" name="TextBox 14"/>
          <p:cNvSpPr txBox="1"/>
          <p:nvPr/>
        </p:nvSpPr>
        <p:spPr>
          <a:xfrm>
            <a:off x="6263640" y="2697480"/>
            <a:ext cx="4983480" cy="304800"/>
          </a:xfrm>
          <a:prstGeom prst="rect">
            <a:avLst/>
          </a:prstGeom>
          <a:noFill/>
        </p:spPr>
        <p:txBody>
          <a:bodyPr wrap="square">
            <a:spAutoFit/>
          </a:bodyPr>
          <a:lstStyle/>
          <a:p>
            <a:pPr algn="l"/>
            <a:r>
              <a:rPr sz="1300" b="1" i="0">
                <a:solidFill>
                  <a:srgbClr val="1A0918"/>
                </a:solidFill>
                <a:latin typeface="Calibri"/>
              </a:rPr>
              <a:t>Three signals</a:t>
            </a:r>
          </a:p>
        </p:txBody>
      </p:sp>
      <p:sp>
        <p:nvSpPr>
          <p:cNvPr id="16" name="TextBox 15"/>
          <p:cNvSpPr txBox="1"/>
          <p:nvPr/>
        </p:nvSpPr>
        <p:spPr>
          <a:xfrm>
            <a:off x="6263640" y="3017520"/>
            <a:ext cx="4937760" cy="402336"/>
          </a:xfrm>
          <a:prstGeom prst="rect">
            <a:avLst/>
          </a:prstGeom>
          <a:noFill/>
        </p:spPr>
        <p:txBody>
          <a:bodyPr wrap="square">
            <a:spAutoFit/>
          </a:bodyPr>
          <a:lstStyle/>
          <a:p>
            <a:pPr algn="l"/>
            <a:r>
              <a:rPr sz="1000" b="0" i="0">
                <a:solidFill>
                  <a:srgbClr val="4A2F47"/>
                </a:solidFill>
                <a:latin typeface="Calibri"/>
              </a:rPr>
              <a:t>▸  Engagement pulse decline, manager review patterns, and AMO conditions (Ability, Motivation, Opportunity)</a:t>
            </a:r>
          </a:p>
        </p:txBody>
      </p:sp>
      <p:sp>
        <p:nvSpPr>
          <p:cNvPr id="17" name="TextBox 16"/>
          <p:cNvSpPr txBox="1"/>
          <p:nvPr/>
        </p:nvSpPr>
        <p:spPr>
          <a:xfrm>
            <a:off x="6263640" y="3419856"/>
            <a:ext cx="4937760" cy="402336"/>
          </a:xfrm>
          <a:prstGeom prst="rect">
            <a:avLst/>
          </a:prstGeom>
          <a:noFill/>
        </p:spPr>
        <p:txBody>
          <a:bodyPr wrap="square">
            <a:spAutoFit/>
          </a:bodyPr>
          <a:lstStyle/>
          <a:p>
            <a:pPr algn="l"/>
            <a:r>
              <a:rPr sz="1000" b="0" i="0">
                <a:solidFill>
                  <a:srgbClr val="4A2F47"/>
                </a:solidFill>
                <a:latin typeface="Calibri"/>
              </a:rPr>
              <a:t>▸  Particular focus on the new senior layer in their first 12 months</a:t>
            </a:r>
          </a:p>
        </p:txBody>
      </p:sp>
      <p:sp>
        <p:nvSpPr>
          <p:cNvPr id="18" name="TextBox 17"/>
          <p:cNvSpPr txBox="1"/>
          <p:nvPr/>
        </p:nvSpPr>
        <p:spPr>
          <a:xfrm>
            <a:off x="6263640" y="3822192"/>
            <a:ext cx="4937760" cy="402336"/>
          </a:xfrm>
          <a:prstGeom prst="rect">
            <a:avLst/>
          </a:prstGeom>
          <a:noFill/>
        </p:spPr>
        <p:txBody>
          <a:bodyPr wrap="square">
            <a:spAutoFit/>
          </a:bodyPr>
          <a:lstStyle/>
          <a:p>
            <a:pPr algn="l"/>
            <a:r>
              <a:rPr sz="1000" b="0" i="0">
                <a:solidFill>
                  <a:srgbClr val="4A2F47"/>
                </a:solidFill>
                <a:latin typeface="Calibri"/>
              </a:rPr>
              <a:t>▸  Intervene before flight risks become resignations</a:t>
            </a:r>
          </a:p>
        </p:txBody>
      </p:sp>
      <p:sp>
        <p:nvSpPr>
          <p:cNvPr id="19" name="Rectangle 18"/>
          <p:cNvSpPr/>
          <p:nvPr/>
        </p:nvSpPr>
        <p:spPr>
          <a:xfrm>
            <a:off x="822960" y="4572000"/>
            <a:ext cx="5166360" cy="20574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681728"/>
            <a:ext cx="4983480" cy="203200"/>
          </a:xfrm>
          <a:prstGeom prst="rect">
            <a:avLst/>
          </a:prstGeom>
          <a:noFill/>
        </p:spPr>
        <p:txBody>
          <a:bodyPr wrap="square">
            <a:spAutoFit/>
          </a:bodyPr>
          <a:lstStyle/>
          <a:p>
            <a:pPr algn="l"/>
            <a:r>
              <a:rPr sz="800" b="0" i="0">
                <a:solidFill>
                  <a:srgbClr val="E6007E"/>
                </a:solidFill>
                <a:latin typeface="Calibri"/>
              </a:rPr>
              <a:t>SUCCESSION</a:t>
            </a:r>
          </a:p>
        </p:txBody>
      </p:sp>
      <p:sp>
        <p:nvSpPr>
          <p:cNvPr id="21" name="TextBox 20"/>
          <p:cNvSpPr txBox="1"/>
          <p:nvPr/>
        </p:nvSpPr>
        <p:spPr>
          <a:xfrm>
            <a:off x="960120" y="4892040"/>
            <a:ext cx="4983480" cy="304800"/>
          </a:xfrm>
          <a:prstGeom prst="rect">
            <a:avLst/>
          </a:prstGeom>
          <a:noFill/>
        </p:spPr>
        <p:txBody>
          <a:bodyPr wrap="square">
            <a:spAutoFit/>
          </a:bodyPr>
          <a:lstStyle/>
          <a:p>
            <a:pPr algn="l"/>
            <a:r>
              <a:rPr sz="1300" b="1" i="0">
                <a:solidFill>
                  <a:srgbClr val="1A0918"/>
                </a:solidFill>
                <a:latin typeface="Calibri"/>
              </a:rPr>
              <a:t>Every senior role covered</a:t>
            </a:r>
          </a:p>
        </p:txBody>
      </p:sp>
      <p:sp>
        <p:nvSpPr>
          <p:cNvPr id="22" name="TextBox 21"/>
          <p:cNvSpPr txBox="1"/>
          <p:nvPr/>
        </p:nvSpPr>
        <p:spPr>
          <a:xfrm>
            <a:off x="960120" y="5212080"/>
            <a:ext cx="4937760" cy="402336"/>
          </a:xfrm>
          <a:prstGeom prst="rect">
            <a:avLst/>
          </a:prstGeom>
          <a:noFill/>
        </p:spPr>
        <p:txBody>
          <a:bodyPr wrap="square">
            <a:spAutoFit/>
          </a:bodyPr>
          <a:lstStyle/>
          <a:p>
            <a:pPr algn="l"/>
            <a:r>
              <a:rPr sz="1000" b="0" i="0">
                <a:solidFill>
                  <a:srgbClr val="4A2F47"/>
                </a:solidFill>
                <a:latin typeface="Calibri"/>
              </a:rPr>
              <a:t>▸  Documented successor candidate for every senior role within 12 months of being filled</a:t>
            </a:r>
          </a:p>
        </p:txBody>
      </p:sp>
      <p:sp>
        <p:nvSpPr>
          <p:cNvPr id="23" name="TextBox 22"/>
          <p:cNvSpPr txBox="1"/>
          <p:nvPr/>
        </p:nvSpPr>
        <p:spPr>
          <a:xfrm>
            <a:off x="960120" y="5614416"/>
            <a:ext cx="4937760" cy="402336"/>
          </a:xfrm>
          <a:prstGeom prst="rect">
            <a:avLst/>
          </a:prstGeom>
          <a:noFill/>
        </p:spPr>
        <p:txBody>
          <a:bodyPr wrap="square">
            <a:spAutoFit/>
          </a:bodyPr>
          <a:lstStyle/>
          <a:p>
            <a:pPr algn="l"/>
            <a:r>
              <a:rPr sz="1000" b="0" i="0">
                <a:solidFill>
                  <a:srgbClr val="4A2F47"/>
                </a:solidFill>
                <a:latin typeface="Calibri"/>
              </a:rPr>
              <a:t>▸  Talent reviews twice per year with the founders</a:t>
            </a:r>
          </a:p>
        </p:txBody>
      </p:sp>
      <p:sp>
        <p:nvSpPr>
          <p:cNvPr id="24" name="TextBox 23"/>
          <p:cNvSpPr txBox="1"/>
          <p:nvPr/>
        </p:nvSpPr>
        <p:spPr>
          <a:xfrm>
            <a:off x="960120" y="6016752"/>
            <a:ext cx="4937760" cy="402336"/>
          </a:xfrm>
          <a:prstGeom prst="rect">
            <a:avLst/>
          </a:prstGeom>
          <a:noFill/>
        </p:spPr>
        <p:txBody>
          <a:bodyPr wrap="square">
            <a:spAutoFit/>
          </a:bodyPr>
          <a:lstStyle/>
          <a:p>
            <a:pPr algn="l"/>
            <a:r>
              <a:rPr sz="1000" b="0" i="0">
                <a:solidFill>
                  <a:srgbClr val="4A2F47"/>
                </a:solidFill>
                <a:latin typeface="Calibri"/>
              </a:rPr>
              <a:t>▸  Five Elms portfolio network used as both a source and destination</a:t>
            </a:r>
          </a:p>
        </p:txBody>
      </p:sp>
      <p:sp>
        <p:nvSpPr>
          <p:cNvPr id="25" name="Rectangle 24"/>
          <p:cNvSpPr/>
          <p:nvPr/>
        </p:nvSpPr>
        <p:spPr>
          <a:xfrm>
            <a:off x="6126480" y="4572000"/>
            <a:ext cx="5166360" cy="20574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4681728"/>
            <a:ext cx="4983480" cy="203200"/>
          </a:xfrm>
          <a:prstGeom prst="rect">
            <a:avLst/>
          </a:prstGeom>
          <a:noFill/>
        </p:spPr>
        <p:txBody>
          <a:bodyPr wrap="square">
            <a:spAutoFit/>
          </a:bodyPr>
          <a:lstStyle/>
          <a:p>
            <a:pPr algn="l"/>
            <a:r>
              <a:rPr sz="800" b="0" i="0">
                <a:solidFill>
                  <a:srgbClr val="E6007E"/>
                </a:solidFill>
                <a:latin typeface="Calibri"/>
              </a:rPr>
              <a:t>THE RETENTION QUESTION</a:t>
            </a:r>
          </a:p>
        </p:txBody>
      </p:sp>
      <p:sp>
        <p:nvSpPr>
          <p:cNvPr id="27" name="TextBox 26"/>
          <p:cNvSpPr txBox="1"/>
          <p:nvPr/>
        </p:nvSpPr>
        <p:spPr>
          <a:xfrm>
            <a:off x="6263640" y="4892040"/>
            <a:ext cx="4983480" cy="304800"/>
          </a:xfrm>
          <a:prstGeom prst="rect">
            <a:avLst/>
          </a:prstGeom>
          <a:noFill/>
        </p:spPr>
        <p:txBody>
          <a:bodyPr wrap="square">
            <a:spAutoFit/>
          </a:bodyPr>
          <a:lstStyle/>
          <a:p>
            <a:pPr algn="l"/>
            <a:r>
              <a:rPr sz="1300" b="1" i="0">
                <a:solidFill>
                  <a:srgbClr val="1A0918"/>
                </a:solidFill>
                <a:latin typeface="Calibri"/>
              </a:rPr>
              <a:t>Protect, not fix</a:t>
            </a:r>
          </a:p>
        </p:txBody>
      </p:sp>
      <p:sp>
        <p:nvSpPr>
          <p:cNvPr id="28" name="TextBox 27"/>
          <p:cNvSpPr txBox="1"/>
          <p:nvPr/>
        </p:nvSpPr>
        <p:spPr>
          <a:xfrm>
            <a:off x="6263640" y="5212080"/>
            <a:ext cx="4937760" cy="402336"/>
          </a:xfrm>
          <a:prstGeom prst="rect">
            <a:avLst/>
          </a:prstGeom>
          <a:noFill/>
        </p:spPr>
        <p:txBody>
          <a:bodyPr wrap="square">
            <a:spAutoFit/>
          </a:bodyPr>
          <a:lstStyle/>
          <a:p>
            <a:pPr algn="l"/>
            <a:r>
              <a:rPr sz="1000" b="0" i="0">
                <a:solidFill>
                  <a:srgbClr val="4A2F47"/>
                </a:solidFill>
                <a:latin typeface="Calibri"/>
              </a:rPr>
              <a:t>▸  Current retention is unusually strong: 2–3 voluntary leavers, 1 termination</a:t>
            </a:r>
          </a:p>
        </p:txBody>
      </p:sp>
      <p:sp>
        <p:nvSpPr>
          <p:cNvPr id="29" name="TextBox 28"/>
          <p:cNvSpPr txBox="1"/>
          <p:nvPr/>
        </p:nvSpPr>
        <p:spPr>
          <a:xfrm>
            <a:off x="6263640" y="5614416"/>
            <a:ext cx="4937760" cy="402336"/>
          </a:xfrm>
          <a:prstGeom prst="rect">
            <a:avLst/>
          </a:prstGeom>
          <a:noFill/>
        </p:spPr>
        <p:txBody>
          <a:bodyPr wrap="square">
            <a:spAutoFit/>
          </a:bodyPr>
          <a:lstStyle/>
          <a:p>
            <a:pPr algn="l"/>
            <a:r>
              <a:rPr sz="1000" b="0" i="0">
                <a:solidFill>
                  <a:srgbClr val="4A2F47"/>
                </a:solidFill>
                <a:latin typeface="Calibri"/>
              </a:rPr>
              <a:t>▸  The work isn't fixing retention — it's protecting it through a doubling of headcount and senior team integration</a:t>
            </a:r>
          </a:p>
        </p:txBody>
      </p:sp>
      <p:sp>
        <p:nvSpPr>
          <p:cNvPr id="30" name="TextBox 29"/>
          <p:cNvSpPr txBox="1"/>
          <p:nvPr/>
        </p:nvSpPr>
        <p:spPr>
          <a:xfrm>
            <a:off x="6263640" y="6016752"/>
            <a:ext cx="4937760" cy="402336"/>
          </a:xfrm>
          <a:prstGeom prst="rect">
            <a:avLst/>
          </a:prstGeom>
          <a:noFill/>
        </p:spPr>
        <p:txBody>
          <a:bodyPr wrap="square">
            <a:spAutoFit/>
          </a:bodyPr>
          <a:lstStyle/>
          <a:p>
            <a:pPr algn="l"/>
            <a:r>
              <a:rPr sz="1000" b="0" i="0">
                <a:solidFill>
                  <a:srgbClr val="4A2F47"/>
                </a:solidFill>
                <a:latin typeface="Calibri"/>
              </a:rPr>
              <a:t>▸  The hardest period is the next 12 months. The system has to prevent the typical deterioration.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09 · The cadence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Operating rhythms</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The cadence that sustains performance at scale.</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Five rhythms; each designed for a specific failure mode if missing. Rhythm is what makes the system institutional before the company outgrows founder bandwidth.</a:t>
            </a:r>
          </a:p>
        </p:txBody>
      </p:sp>
      <p:sp>
        <p:nvSpPr>
          <p:cNvPr id="7" name="Rectangle 6"/>
          <p:cNvSpPr/>
          <p:nvPr/>
        </p:nvSpPr>
        <p:spPr>
          <a:xfrm>
            <a:off x="822960" y="2377440"/>
            <a:ext cx="2011680" cy="34747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487168"/>
            <a:ext cx="1874520" cy="228600"/>
          </a:xfrm>
          <a:prstGeom prst="rect">
            <a:avLst/>
          </a:prstGeom>
          <a:noFill/>
        </p:spPr>
        <p:txBody>
          <a:bodyPr wrap="square">
            <a:spAutoFit/>
          </a:bodyPr>
          <a:lstStyle/>
          <a:p>
            <a:pPr algn="l"/>
            <a:r>
              <a:rPr sz="800" b="0" i="0">
                <a:solidFill>
                  <a:srgbClr val="E6007E"/>
                </a:solidFill>
                <a:latin typeface="Calibri"/>
              </a:rPr>
              <a:t>DAILY / WEEKLY</a:t>
            </a:r>
          </a:p>
        </p:txBody>
      </p:sp>
      <p:sp>
        <p:nvSpPr>
          <p:cNvPr id="9" name="TextBox 8"/>
          <p:cNvSpPr txBox="1"/>
          <p:nvPr/>
        </p:nvSpPr>
        <p:spPr>
          <a:xfrm>
            <a:off x="932688" y="2761488"/>
            <a:ext cx="1847088" cy="594360"/>
          </a:xfrm>
          <a:prstGeom prst="rect">
            <a:avLst/>
          </a:prstGeom>
          <a:noFill/>
        </p:spPr>
        <p:txBody>
          <a:bodyPr wrap="square">
            <a:spAutoFit/>
          </a:bodyPr>
          <a:lstStyle/>
          <a:p>
            <a:pPr algn="l"/>
            <a:r>
              <a:rPr sz="1000" b="0" i="0">
                <a:solidFill>
                  <a:srgbClr val="4A2F47"/>
                </a:solidFill>
                <a:latin typeface="Calibri"/>
              </a:rPr>
              <a:t>▸  Weekly 1:1 — every manager to every direct report; focused on performance and unblocking</a:t>
            </a:r>
          </a:p>
        </p:txBody>
      </p:sp>
      <p:sp>
        <p:nvSpPr>
          <p:cNvPr id="10" name="TextBox 9"/>
          <p:cNvSpPr txBox="1"/>
          <p:nvPr/>
        </p:nvSpPr>
        <p:spPr>
          <a:xfrm>
            <a:off x="932688" y="3401568"/>
            <a:ext cx="1847088" cy="594360"/>
          </a:xfrm>
          <a:prstGeom prst="rect">
            <a:avLst/>
          </a:prstGeom>
          <a:noFill/>
        </p:spPr>
        <p:txBody>
          <a:bodyPr wrap="square">
            <a:spAutoFit/>
          </a:bodyPr>
          <a:lstStyle/>
          <a:p>
            <a:pPr algn="l"/>
            <a:r>
              <a:rPr sz="1000" b="0" i="0">
                <a:solidFill>
                  <a:srgbClr val="4A2F47"/>
                </a:solidFill>
                <a:latin typeface="Calibri"/>
              </a:rPr>
              <a:t>▸  Wednesday team lunch (protect)</a:t>
            </a:r>
          </a:p>
        </p:txBody>
      </p:sp>
      <p:sp>
        <p:nvSpPr>
          <p:cNvPr id="11" name="TextBox 10"/>
          <p:cNvSpPr txBox="1"/>
          <p:nvPr/>
        </p:nvSpPr>
        <p:spPr>
          <a:xfrm>
            <a:off x="932688" y="4041648"/>
            <a:ext cx="1847088" cy="594360"/>
          </a:xfrm>
          <a:prstGeom prst="rect">
            <a:avLst/>
          </a:prstGeom>
          <a:noFill/>
        </p:spPr>
        <p:txBody>
          <a:bodyPr wrap="square">
            <a:spAutoFit/>
          </a:bodyPr>
          <a:lstStyle/>
          <a:p>
            <a:pPr algn="l"/>
            <a:r>
              <a:rPr sz="1000" b="0" i="0">
                <a:solidFill>
                  <a:srgbClr val="4A2F47"/>
                </a:solidFill>
                <a:latin typeface="Calibri"/>
              </a:rPr>
              <a:t>▸  Weekly Ricky + Head of People sync for fast decisions</a:t>
            </a:r>
          </a:p>
        </p:txBody>
      </p:sp>
      <p:sp>
        <p:nvSpPr>
          <p:cNvPr id="12" name="Rectangle 11"/>
          <p:cNvSpPr/>
          <p:nvPr/>
        </p:nvSpPr>
        <p:spPr>
          <a:xfrm>
            <a:off x="2935224" y="2377440"/>
            <a:ext cx="2011680" cy="34747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2487168"/>
            <a:ext cx="1874520" cy="228600"/>
          </a:xfrm>
          <a:prstGeom prst="rect">
            <a:avLst/>
          </a:prstGeom>
          <a:noFill/>
        </p:spPr>
        <p:txBody>
          <a:bodyPr wrap="square">
            <a:spAutoFit/>
          </a:bodyPr>
          <a:lstStyle/>
          <a:p>
            <a:pPr algn="l"/>
            <a:r>
              <a:rPr sz="800" b="0" i="0">
                <a:solidFill>
                  <a:srgbClr val="E6007E"/>
                </a:solidFill>
                <a:latin typeface="Calibri"/>
              </a:rPr>
              <a:t>MONTHLY</a:t>
            </a:r>
          </a:p>
        </p:txBody>
      </p:sp>
      <p:sp>
        <p:nvSpPr>
          <p:cNvPr id="14" name="TextBox 13"/>
          <p:cNvSpPr txBox="1"/>
          <p:nvPr/>
        </p:nvSpPr>
        <p:spPr>
          <a:xfrm>
            <a:off x="3044952" y="2761488"/>
            <a:ext cx="1847088" cy="594360"/>
          </a:xfrm>
          <a:prstGeom prst="rect">
            <a:avLst/>
          </a:prstGeom>
          <a:noFill/>
        </p:spPr>
        <p:txBody>
          <a:bodyPr wrap="square">
            <a:spAutoFit/>
          </a:bodyPr>
          <a:lstStyle/>
          <a:p>
            <a:pPr algn="l"/>
            <a:r>
              <a:rPr sz="1000" b="0" i="0">
                <a:solidFill>
                  <a:srgbClr val="4A2F47"/>
                </a:solidFill>
                <a:latin typeface="Calibri"/>
              </a:rPr>
              <a:t>▸  All hands (extend to reinforce the pivot narrative)</a:t>
            </a:r>
          </a:p>
        </p:txBody>
      </p:sp>
      <p:sp>
        <p:nvSpPr>
          <p:cNvPr id="15" name="TextBox 14"/>
          <p:cNvSpPr txBox="1"/>
          <p:nvPr/>
        </p:nvSpPr>
        <p:spPr>
          <a:xfrm>
            <a:off x="3044952" y="3401568"/>
            <a:ext cx="1847088" cy="594360"/>
          </a:xfrm>
          <a:prstGeom prst="rect">
            <a:avLst/>
          </a:prstGeom>
          <a:noFill/>
        </p:spPr>
        <p:txBody>
          <a:bodyPr wrap="square">
            <a:spAutoFit/>
          </a:bodyPr>
          <a:lstStyle/>
          <a:p>
            <a:pPr algn="l"/>
            <a:r>
              <a:rPr sz="1000" b="0" i="0">
                <a:solidFill>
                  <a:srgbClr val="4A2F47"/>
                </a:solidFill>
                <a:latin typeface="Calibri"/>
              </a:rPr>
              <a:t>▸  Leadership Team meeting (consider fortnightly)</a:t>
            </a:r>
          </a:p>
        </p:txBody>
      </p:sp>
      <p:sp>
        <p:nvSpPr>
          <p:cNvPr id="16" name="TextBox 15"/>
          <p:cNvSpPr txBox="1"/>
          <p:nvPr/>
        </p:nvSpPr>
        <p:spPr>
          <a:xfrm>
            <a:off x="3044952" y="4041648"/>
            <a:ext cx="1847088" cy="594360"/>
          </a:xfrm>
          <a:prstGeom prst="rect">
            <a:avLst/>
          </a:prstGeom>
          <a:noFill/>
        </p:spPr>
        <p:txBody>
          <a:bodyPr wrap="square">
            <a:spAutoFit/>
          </a:bodyPr>
          <a:lstStyle/>
          <a:p>
            <a:pPr algn="l"/>
            <a:r>
              <a:rPr sz="1000" b="0" i="0">
                <a:solidFill>
                  <a:srgbClr val="4A2F47"/>
                </a:solidFill>
                <a:latin typeface="Calibri"/>
              </a:rPr>
              <a:t>▸  People dashboard review with Ricky</a:t>
            </a:r>
          </a:p>
        </p:txBody>
      </p:sp>
      <p:sp>
        <p:nvSpPr>
          <p:cNvPr id="17" name="Rectangle 16"/>
          <p:cNvSpPr/>
          <p:nvPr/>
        </p:nvSpPr>
        <p:spPr>
          <a:xfrm>
            <a:off x="5047488" y="2377440"/>
            <a:ext cx="2011680" cy="34747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2487168"/>
            <a:ext cx="1874520" cy="228600"/>
          </a:xfrm>
          <a:prstGeom prst="rect">
            <a:avLst/>
          </a:prstGeom>
          <a:noFill/>
        </p:spPr>
        <p:txBody>
          <a:bodyPr wrap="square">
            <a:spAutoFit/>
          </a:bodyPr>
          <a:lstStyle/>
          <a:p>
            <a:pPr algn="l"/>
            <a:r>
              <a:rPr sz="800" b="0" i="0">
                <a:solidFill>
                  <a:srgbClr val="E6007E"/>
                </a:solidFill>
                <a:latin typeface="Calibri"/>
              </a:rPr>
              <a:t>QUARTERLY</a:t>
            </a:r>
          </a:p>
        </p:txBody>
      </p:sp>
      <p:sp>
        <p:nvSpPr>
          <p:cNvPr id="19" name="TextBox 18"/>
          <p:cNvSpPr txBox="1"/>
          <p:nvPr/>
        </p:nvSpPr>
        <p:spPr>
          <a:xfrm>
            <a:off x="5157216" y="2761488"/>
            <a:ext cx="1847088" cy="594360"/>
          </a:xfrm>
          <a:prstGeom prst="rect">
            <a:avLst/>
          </a:prstGeom>
          <a:noFill/>
        </p:spPr>
        <p:txBody>
          <a:bodyPr wrap="square">
            <a:spAutoFit/>
          </a:bodyPr>
          <a:lstStyle/>
          <a:p>
            <a:pPr algn="l"/>
            <a:r>
              <a:rPr sz="1000" b="0" i="0">
                <a:solidFill>
                  <a:srgbClr val="4A2F47"/>
                </a:solidFill>
                <a:latin typeface="Calibri"/>
              </a:rPr>
              <a:t>▸  OKR setting and review: company, team, individual</a:t>
            </a:r>
          </a:p>
        </p:txBody>
      </p:sp>
      <p:sp>
        <p:nvSpPr>
          <p:cNvPr id="20" name="TextBox 19"/>
          <p:cNvSpPr txBox="1"/>
          <p:nvPr/>
        </p:nvSpPr>
        <p:spPr>
          <a:xfrm>
            <a:off x="5157216" y="3401568"/>
            <a:ext cx="1847088" cy="594360"/>
          </a:xfrm>
          <a:prstGeom prst="rect">
            <a:avLst/>
          </a:prstGeom>
          <a:noFill/>
        </p:spPr>
        <p:txBody>
          <a:bodyPr wrap="square">
            <a:spAutoFit/>
          </a:bodyPr>
          <a:lstStyle/>
          <a:p>
            <a:pPr algn="l"/>
            <a:r>
              <a:rPr sz="1000" b="0" i="0">
                <a:solidFill>
                  <a:srgbClr val="4A2F47"/>
                </a:solidFill>
                <a:latin typeface="Calibri"/>
              </a:rPr>
              <a:t>▸  Performance and development conversations</a:t>
            </a:r>
          </a:p>
        </p:txBody>
      </p:sp>
      <p:sp>
        <p:nvSpPr>
          <p:cNvPr id="21" name="TextBox 20"/>
          <p:cNvSpPr txBox="1"/>
          <p:nvPr/>
        </p:nvSpPr>
        <p:spPr>
          <a:xfrm>
            <a:off x="5157216" y="4041648"/>
            <a:ext cx="1847088" cy="594360"/>
          </a:xfrm>
          <a:prstGeom prst="rect">
            <a:avLst/>
          </a:prstGeom>
          <a:noFill/>
        </p:spPr>
        <p:txBody>
          <a:bodyPr wrap="square">
            <a:spAutoFit/>
          </a:bodyPr>
          <a:lstStyle/>
          <a:p>
            <a:pPr algn="l"/>
            <a:r>
              <a:rPr sz="1000" b="0" i="0">
                <a:solidFill>
                  <a:srgbClr val="4A2F47"/>
                </a:solidFill>
                <a:latin typeface="Calibri"/>
              </a:rPr>
              <a:t>▸  Talent review with founders</a:t>
            </a:r>
          </a:p>
        </p:txBody>
      </p:sp>
      <p:sp>
        <p:nvSpPr>
          <p:cNvPr id="22" name="TextBox 21"/>
          <p:cNvSpPr txBox="1"/>
          <p:nvPr/>
        </p:nvSpPr>
        <p:spPr>
          <a:xfrm>
            <a:off x="5157216" y="4681728"/>
            <a:ext cx="1847088" cy="594360"/>
          </a:xfrm>
          <a:prstGeom prst="rect">
            <a:avLst/>
          </a:prstGeom>
          <a:noFill/>
        </p:spPr>
        <p:txBody>
          <a:bodyPr wrap="square">
            <a:spAutoFit/>
          </a:bodyPr>
          <a:lstStyle/>
          <a:p>
            <a:pPr algn="l"/>
            <a:r>
              <a:rPr sz="1000" b="0" i="0">
                <a:solidFill>
                  <a:srgbClr val="4A2F47"/>
                </a:solidFill>
                <a:latin typeface="Calibri"/>
              </a:rPr>
              <a:t>▸  Quarterly party (protect)</a:t>
            </a:r>
          </a:p>
        </p:txBody>
      </p:sp>
      <p:sp>
        <p:nvSpPr>
          <p:cNvPr id="23" name="Rectangle 22"/>
          <p:cNvSpPr/>
          <p:nvPr/>
        </p:nvSpPr>
        <p:spPr>
          <a:xfrm>
            <a:off x="7159752" y="2377440"/>
            <a:ext cx="2011680" cy="34747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2487168"/>
            <a:ext cx="1874520" cy="228600"/>
          </a:xfrm>
          <a:prstGeom prst="rect">
            <a:avLst/>
          </a:prstGeom>
          <a:noFill/>
        </p:spPr>
        <p:txBody>
          <a:bodyPr wrap="square">
            <a:spAutoFit/>
          </a:bodyPr>
          <a:lstStyle/>
          <a:p>
            <a:pPr algn="l"/>
            <a:r>
              <a:rPr sz="800" b="0" i="0">
                <a:solidFill>
                  <a:srgbClr val="E6007E"/>
                </a:solidFill>
                <a:latin typeface="Calibri"/>
              </a:rPr>
              <a:t>SEMI-ANNUAL</a:t>
            </a:r>
          </a:p>
        </p:txBody>
      </p:sp>
      <p:sp>
        <p:nvSpPr>
          <p:cNvPr id="25" name="TextBox 24"/>
          <p:cNvSpPr txBox="1"/>
          <p:nvPr/>
        </p:nvSpPr>
        <p:spPr>
          <a:xfrm>
            <a:off x="7269480" y="2761488"/>
            <a:ext cx="1847088" cy="594360"/>
          </a:xfrm>
          <a:prstGeom prst="rect">
            <a:avLst/>
          </a:prstGeom>
          <a:noFill/>
        </p:spPr>
        <p:txBody>
          <a:bodyPr wrap="square">
            <a:spAutoFit/>
          </a:bodyPr>
          <a:lstStyle/>
          <a:p>
            <a:pPr algn="l"/>
            <a:r>
              <a:rPr sz="1000" b="0" i="0">
                <a:solidFill>
                  <a:srgbClr val="4A2F47"/>
                </a:solidFill>
                <a:latin typeface="Calibri"/>
              </a:rPr>
              <a:t>▸  Formal performance review cycle</a:t>
            </a:r>
          </a:p>
        </p:txBody>
      </p:sp>
      <p:sp>
        <p:nvSpPr>
          <p:cNvPr id="26" name="TextBox 25"/>
          <p:cNvSpPr txBox="1"/>
          <p:nvPr/>
        </p:nvSpPr>
        <p:spPr>
          <a:xfrm>
            <a:off x="7269480" y="3401568"/>
            <a:ext cx="1847088" cy="594360"/>
          </a:xfrm>
          <a:prstGeom prst="rect">
            <a:avLst/>
          </a:prstGeom>
          <a:noFill/>
        </p:spPr>
        <p:txBody>
          <a:bodyPr wrap="square">
            <a:spAutoFit/>
          </a:bodyPr>
          <a:lstStyle/>
          <a:p>
            <a:pPr algn="l"/>
            <a:r>
              <a:rPr sz="1000" b="0" i="0">
                <a:solidFill>
                  <a:srgbClr val="4A2F47"/>
                </a:solidFill>
                <a:latin typeface="Calibri"/>
              </a:rPr>
              <a:t>▸  Engagement pulse and AMO analysis</a:t>
            </a:r>
          </a:p>
        </p:txBody>
      </p:sp>
      <p:sp>
        <p:nvSpPr>
          <p:cNvPr id="27" name="TextBox 26"/>
          <p:cNvSpPr txBox="1"/>
          <p:nvPr/>
        </p:nvSpPr>
        <p:spPr>
          <a:xfrm>
            <a:off x="7269480" y="4041648"/>
            <a:ext cx="1847088" cy="594360"/>
          </a:xfrm>
          <a:prstGeom prst="rect">
            <a:avLst/>
          </a:prstGeom>
          <a:noFill/>
        </p:spPr>
        <p:txBody>
          <a:bodyPr wrap="square">
            <a:spAutoFit/>
          </a:bodyPr>
          <a:lstStyle/>
          <a:p>
            <a:pPr algn="l"/>
            <a:r>
              <a:rPr sz="1000" b="0" i="0">
                <a:solidFill>
                  <a:srgbClr val="4A2F47"/>
                </a:solidFill>
                <a:latin typeface="Calibri"/>
              </a:rPr>
              <a:t>▸  Talent strategy refresh</a:t>
            </a:r>
          </a:p>
        </p:txBody>
      </p:sp>
      <p:sp>
        <p:nvSpPr>
          <p:cNvPr id="28" name="Rectangle 27"/>
          <p:cNvSpPr/>
          <p:nvPr/>
        </p:nvSpPr>
        <p:spPr>
          <a:xfrm>
            <a:off x="9272016" y="2377440"/>
            <a:ext cx="2011680" cy="34747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81744" y="2487168"/>
            <a:ext cx="1874520" cy="228600"/>
          </a:xfrm>
          <a:prstGeom prst="rect">
            <a:avLst/>
          </a:prstGeom>
          <a:noFill/>
        </p:spPr>
        <p:txBody>
          <a:bodyPr wrap="square">
            <a:spAutoFit/>
          </a:bodyPr>
          <a:lstStyle/>
          <a:p>
            <a:pPr algn="l"/>
            <a:r>
              <a:rPr sz="800" b="0" i="0">
                <a:solidFill>
                  <a:srgbClr val="E6007E"/>
                </a:solidFill>
                <a:latin typeface="Calibri"/>
              </a:rPr>
              <a:t>ANNUAL</a:t>
            </a:r>
          </a:p>
        </p:txBody>
      </p:sp>
      <p:sp>
        <p:nvSpPr>
          <p:cNvPr id="30" name="TextBox 29"/>
          <p:cNvSpPr txBox="1"/>
          <p:nvPr/>
        </p:nvSpPr>
        <p:spPr>
          <a:xfrm>
            <a:off x="9381744" y="2761488"/>
            <a:ext cx="1847088" cy="594360"/>
          </a:xfrm>
          <a:prstGeom prst="rect">
            <a:avLst/>
          </a:prstGeom>
          <a:noFill/>
        </p:spPr>
        <p:txBody>
          <a:bodyPr wrap="square">
            <a:spAutoFit/>
          </a:bodyPr>
          <a:lstStyle/>
          <a:p>
            <a:pPr algn="l"/>
            <a:r>
              <a:rPr sz="1000" b="0" i="0">
                <a:solidFill>
                  <a:srgbClr val="4A2F47"/>
                </a:solidFill>
                <a:latin typeface="Calibri"/>
              </a:rPr>
              <a:t>▸  Planning aligned to Five Elms board cycle</a:t>
            </a:r>
          </a:p>
        </p:txBody>
      </p:sp>
      <p:sp>
        <p:nvSpPr>
          <p:cNvPr id="31" name="TextBox 30"/>
          <p:cNvSpPr txBox="1"/>
          <p:nvPr/>
        </p:nvSpPr>
        <p:spPr>
          <a:xfrm>
            <a:off x="9381744" y="3401568"/>
            <a:ext cx="1847088" cy="594360"/>
          </a:xfrm>
          <a:prstGeom prst="rect">
            <a:avLst/>
          </a:prstGeom>
          <a:noFill/>
        </p:spPr>
        <p:txBody>
          <a:bodyPr wrap="square">
            <a:spAutoFit/>
          </a:bodyPr>
          <a:lstStyle/>
          <a:p>
            <a:pPr algn="l"/>
            <a:r>
              <a:rPr sz="1000" b="0" i="0">
                <a:solidFill>
                  <a:srgbClr val="4A2F47"/>
                </a:solidFill>
                <a:latin typeface="Calibri"/>
              </a:rPr>
              <a:t>▸  Compensation review and equity refresh</a:t>
            </a:r>
          </a:p>
        </p:txBody>
      </p:sp>
      <p:sp>
        <p:nvSpPr>
          <p:cNvPr id="32" name="TextBox 31"/>
          <p:cNvSpPr txBox="1"/>
          <p:nvPr/>
        </p:nvSpPr>
        <p:spPr>
          <a:xfrm>
            <a:off x="9381744" y="4041648"/>
            <a:ext cx="1847088" cy="594360"/>
          </a:xfrm>
          <a:prstGeom prst="rect">
            <a:avLst/>
          </a:prstGeom>
          <a:noFill/>
        </p:spPr>
        <p:txBody>
          <a:bodyPr wrap="square">
            <a:spAutoFit/>
          </a:bodyPr>
          <a:lstStyle/>
          <a:p>
            <a:pPr algn="l"/>
            <a:r>
              <a:rPr sz="1000" b="0" i="0">
                <a:solidFill>
                  <a:srgbClr val="4A2F47"/>
                </a:solidFill>
                <a:latin typeface="Calibri"/>
              </a:rPr>
              <a:t>▸  Values and culture review</a:t>
            </a:r>
          </a:p>
        </p:txBody>
      </p:sp>
      <p:sp>
        <p:nvSpPr>
          <p:cNvPr id="33" name="Rectangle 32"/>
          <p:cNvSpPr/>
          <p:nvPr/>
        </p:nvSpPr>
        <p:spPr>
          <a:xfrm>
            <a:off x="822960" y="5961888"/>
            <a:ext cx="10515600" cy="658368"/>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6080760"/>
            <a:ext cx="9601200" cy="457200"/>
          </a:xfrm>
          <a:prstGeom prst="rect">
            <a:avLst/>
          </a:prstGeom>
          <a:noFill/>
        </p:spPr>
        <p:txBody>
          <a:bodyPr wrap="square">
            <a:spAutoFit/>
          </a:bodyPr>
          <a:lstStyle/>
          <a:p>
            <a:pPr algn="l"/>
            <a:r>
              <a:rPr sz="1200" b="0" i="0">
                <a:solidFill>
                  <a:srgbClr val="1A0918"/>
                </a:solidFill>
                <a:latin typeface="Calibri"/>
              </a:rPr>
              <a:t>▶  The Wednesday lunch and the quarterly party are cultural assets, not nice-to-haves. Most People functions let them drift. The work is keeping them deliberate.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10 · Discipline at 50th percentile pay</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Hiring</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200" b="0" i="0">
                <a:solidFill>
                  <a:srgbClr val="1A0918"/>
                </a:solidFill>
                <a:latin typeface="Calibri"/>
              </a:rPr>
              <a:t>Discipline that wins at 50th percentile pay.</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Senior candidates don't apply for jobs. They invest career capital. Our job is to make the ROI obvious and the thesis real.</a:t>
            </a:r>
          </a:p>
        </p:txBody>
      </p:sp>
      <p:sp>
        <p:nvSpPr>
          <p:cNvPr id="7" name="Rectangle 6"/>
          <p:cNvSpPr/>
          <p:nvPr/>
        </p:nvSpPr>
        <p:spPr>
          <a:xfrm>
            <a:off x="822960" y="2377440"/>
            <a:ext cx="5166360" cy="182880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87168"/>
            <a:ext cx="4846320" cy="254000"/>
          </a:xfrm>
          <a:prstGeom prst="rect">
            <a:avLst/>
          </a:prstGeom>
          <a:noFill/>
        </p:spPr>
        <p:txBody>
          <a:bodyPr wrap="square">
            <a:spAutoFit/>
          </a:bodyPr>
          <a:lstStyle/>
          <a:p>
            <a:pPr algn="l"/>
            <a:r>
              <a:rPr sz="1200" b="1" i="0">
                <a:solidFill>
                  <a:srgbClr val="1A0918"/>
                </a:solidFill>
                <a:latin typeface="Calibri"/>
              </a:rPr>
              <a:t>The principle — Borrow · Build · Automate · Buy</a:t>
            </a:r>
          </a:p>
        </p:txBody>
      </p:sp>
      <p:sp>
        <p:nvSpPr>
          <p:cNvPr id="9" name="TextBox 8"/>
          <p:cNvSpPr txBox="1"/>
          <p:nvPr/>
        </p:nvSpPr>
        <p:spPr>
          <a:xfrm>
            <a:off x="960120" y="2761488"/>
            <a:ext cx="822960" cy="228600"/>
          </a:xfrm>
          <a:prstGeom prst="rect">
            <a:avLst/>
          </a:prstGeom>
          <a:noFill/>
        </p:spPr>
        <p:txBody>
          <a:bodyPr wrap="square">
            <a:spAutoFit/>
          </a:bodyPr>
          <a:lstStyle/>
          <a:p>
            <a:pPr algn="l"/>
            <a:r>
              <a:rPr sz="800" b="0" i="0">
                <a:solidFill>
                  <a:srgbClr val="E6007E"/>
                </a:solidFill>
                <a:latin typeface="Calibri"/>
              </a:rPr>
              <a:t>BORROW</a:t>
            </a:r>
          </a:p>
        </p:txBody>
      </p:sp>
      <p:sp>
        <p:nvSpPr>
          <p:cNvPr id="10" name="TextBox 9"/>
          <p:cNvSpPr txBox="1"/>
          <p:nvPr/>
        </p:nvSpPr>
        <p:spPr>
          <a:xfrm>
            <a:off x="1828800" y="2761488"/>
            <a:ext cx="4023360" cy="228600"/>
          </a:xfrm>
          <a:prstGeom prst="rect">
            <a:avLst/>
          </a:prstGeom>
          <a:noFill/>
        </p:spPr>
        <p:txBody>
          <a:bodyPr wrap="square">
            <a:spAutoFit/>
          </a:bodyPr>
          <a:lstStyle/>
          <a:p>
            <a:pPr algn="l"/>
            <a:r>
              <a:rPr sz="1000" b="0" i="0">
                <a:solidFill>
                  <a:srgbClr val="4A2F47"/>
                </a:solidFill>
                <a:latin typeface="Calibri"/>
              </a:rPr>
              <a:t>Fractional and consultant talent for specialist work before committing to FTE</a:t>
            </a:r>
          </a:p>
        </p:txBody>
      </p:sp>
      <p:sp>
        <p:nvSpPr>
          <p:cNvPr id="11" name="TextBox 10"/>
          <p:cNvSpPr txBox="1"/>
          <p:nvPr/>
        </p:nvSpPr>
        <p:spPr>
          <a:xfrm>
            <a:off x="960120" y="3108960"/>
            <a:ext cx="822960" cy="228600"/>
          </a:xfrm>
          <a:prstGeom prst="rect">
            <a:avLst/>
          </a:prstGeom>
          <a:noFill/>
        </p:spPr>
        <p:txBody>
          <a:bodyPr wrap="square">
            <a:spAutoFit/>
          </a:bodyPr>
          <a:lstStyle/>
          <a:p>
            <a:pPr algn="l"/>
            <a:r>
              <a:rPr sz="800" b="0" i="0">
                <a:solidFill>
                  <a:srgbClr val="E6007E"/>
                </a:solidFill>
                <a:latin typeface="Calibri"/>
              </a:rPr>
              <a:t>BUILD</a:t>
            </a:r>
          </a:p>
        </p:txBody>
      </p:sp>
      <p:sp>
        <p:nvSpPr>
          <p:cNvPr id="12" name="TextBox 11"/>
          <p:cNvSpPr txBox="1"/>
          <p:nvPr/>
        </p:nvSpPr>
        <p:spPr>
          <a:xfrm>
            <a:off x="1828800" y="3108960"/>
            <a:ext cx="4023360" cy="228600"/>
          </a:xfrm>
          <a:prstGeom prst="rect">
            <a:avLst/>
          </a:prstGeom>
          <a:noFill/>
        </p:spPr>
        <p:txBody>
          <a:bodyPr wrap="square">
            <a:spAutoFit/>
          </a:bodyPr>
          <a:lstStyle/>
          <a:p>
            <a:pPr algn="l"/>
            <a:r>
              <a:rPr sz="1000" b="0" i="0">
                <a:solidFill>
                  <a:srgbClr val="4A2F47"/>
                </a:solidFill>
                <a:latin typeface="Calibri"/>
              </a:rPr>
              <a:t>Identify rising talent inside the existing team and promote into stretch roles before going external</a:t>
            </a:r>
          </a:p>
        </p:txBody>
      </p:sp>
      <p:sp>
        <p:nvSpPr>
          <p:cNvPr id="13" name="TextBox 12"/>
          <p:cNvSpPr txBox="1"/>
          <p:nvPr/>
        </p:nvSpPr>
        <p:spPr>
          <a:xfrm>
            <a:off x="960120" y="3456432"/>
            <a:ext cx="822960" cy="228600"/>
          </a:xfrm>
          <a:prstGeom prst="rect">
            <a:avLst/>
          </a:prstGeom>
          <a:noFill/>
        </p:spPr>
        <p:txBody>
          <a:bodyPr wrap="square">
            <a:spAutoFit/>
          </a:bodyPr>
          <a:lstStyle/>
          <a:p>
            <a:pPr algn="l"/>
            <a:r>
              <a:rPr sz="800" b="0" i="0">
                <a:solidFill>
                  <a:srgbClr val="E6007E"/>
                </a:solidFill>
                <a:latin typeface="Calibri"/>
              </a:rPr>
              <a:t>AUTOMATE</a:t>
            </a:r>
          </a:p>
        </p:txBody>
      </p:sp>
      <p:sp>
        <p:nvSpPr>
          <p:cNvPr id="14" name="TextBox 13"/>
          <p:cNvSpPr txBox="1"/>
          <p:nvPr/>
        </p:nvSpPr>
        <p:spPr>
          <a:xfrm>
            <a:off x="1828800" y="3456432"/>
            <a:ext cx="4023360" cy="228600"/>
          </a:xfrm>
          <a:prstGeom prst="rect">
            <a:avLst/>
          </a:prstGeom>
          <a:noFill/>
        </p:spPr>
        <p:txBody>
          <a:bodyPr wrap="square">
            <a:spAutoFit/>
          </a:bodyPr>
          <a:lstStyle/>
          <a:p>
            <a:pPr algn="l"/>
            <a:r>
              <a:rPr sz="1000" b="0" i="0">
                <a:solidFill>
                  <a:srgbClr val="4A2F47"/>
                </a:solidFill>
                <a:latin typeface="Calibri"/>
              </a:rPr>
              <a:t>AI tooling for sourcing, scheduling, screening, reference checks — most manual hiring work compressible by 30–50%</a:t>
            </a:r>
          </a:p>
        </p:txBody>
      </p:sp>
      <p:sp>
        <p:nvSpPr>
          <p:cNvPr id="15" name="TextBox 14"/>
          <p:cNvSpPr txBox="1"/>
          <p:nvPr/>
        </p:nvSpPr>
        <p:spPr>
          <a:xfrm>
            <a:off x="960120" y="3803904"/>
            <a:ext cx="822960" cy="228600"/>
          </a:xfrm>
          <a:prstGeom prst="rect">
            <a:avLst/>
          </a:prstGeom>
          <a:noFill/>
        </p:spPr>
        <p:txBody>
          <a:bodyPr wrap="square">
            <a:spAutoFit/>
          </a:bodyPr>
          <a:lstStyle/>
          <a:p>
            <a:pPr algn="l"/>
            <a:r>
              <a:rPr sz="800" b="0" i="0">
                <a:solidFill>
                  <a:srgbClr val="E6007E"/>
                </a:solidFill>
                <a:latin typeface="Calibri"/>
              </a:rPr>
              <a:t>BUY</a:t>
            </a:r>
          </a:p>
        </p:txBody>
      </p:sp>
      <p:sp>
        <p:nvSpPr>
          <p:cNvPr id="16" name="TextBox 15"/>
          <p:cNvSpPr txBox="1"/>
          <p:nvPr/>
        </p:nvSpPr>
        <p:spPr>
          <a:xfrm>
            <a:off x="1828800" y="3803904"/>
            <a:ext cx="4023360" cy="228600"/>
          </a:xfrm>
          <a:prstGeom prst="rect">
            <a:avLst/>
          </a:prstGeom>
          <a:noFill/>
        </p:spPr>
        <p:txBody>
          <a:bodyPr wrap="square">
            <a:spAutoFit/>
          </a:bodyPr>
          <a:lstStyle/>
          <a:p>
            <a:pPr algn="l"/>
            <a:r>
              <a:rPr sz="1000" b="0" i="0">
                <a:solidFill>
                  <a:srgbClr val="4A2F47"/>
                </a:solidFill>
                <a:latin typeface="Calibri"/>
              </a:rPr>
              <a:t>External senior hires only when borrowed, built and automated options have been exhausted</a:t>
            </a:r>
          </a:p>
        </p:txBody>
      </p:sp>
      <p:sp>
        <p:nvSpPr>
          <p:cNvPr id="17" name="Rectangle 16"/>
          <p:cNvSpPr/>
          <p:nvPr/>
        </p:nvSpPr>
        <p:spPr>
          <a:xfrm>
            <a:off x="822960" y="4343400"/>
            <a:ext cx="5166360" cy="219456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453128"/>
            <a:ext cx="4846320" cy="254000"/>
          </a:xfrm>
          <a:prstGeom prst="rect">
            <a:avLst/>
          </a:prstGeom>
          <a:noFill/>
        </p:spPr>
        <p:txBody>
          <a:bodyPr wrap="square">
            <a:spAutoFit/>
          </a:bodyPr>
          <a:lstStyle/>
          <a:p>
            <a:pPr algn="l"/>
            <a:r>
              <a:rPr sz="1200" b="1" i="0">
                <a:solidFill>
                  <a:srgbClr val="1A0918"/>
                </a:solidFill>
                <a:latin typeface="Calibri"/>
              </a:rPr>
              <a:t>The AI stack I bring in</a:t>
            </a:r>
          </a:p>
        </p:txBody>
      </p:sp>
      <p:sp>
        <p:nvSpPr>
          <p:cNvPr id="19" name="TextBox 18"/>
          <p:cNvSpPr txBox="1"/>
          <p:nvPr/>
        </p:nvSpPr>
        <p:spPr>
          <a:xfrm>
            <a:off x="960120" y="4727448"/>
            <a:ext cx="320040" cy="228600"/>
          </a:xfrm>
          <a:prstGeom prst="rect">
            <a:avLst/>
          </a:prstGeom>
          <a:noFill/>
        </p:spPr>
        <p:txBody>
          <a:bodyPr wrap="square">
            <a:spAutoFit/>
          </a:bodyPr>
          <a:lstStyle/>
          <a:p>
            <a:pPr algn="l"/>
            <a:r>
              <a:rPr sz="800" b="0" i="0">
                <a:solidFill>
                  <a:srgbClr val="E6007E"/>
                </a:solidFill>
                <a:latin typeface="Calibri"/>
              </a:rPr>
              <a:t>01</a:t>
            </a:r>
          </a:p>
        </p:txBody>
      </p:sp>
      <p:sp>
        <p:nvSpPr>
          <p:cNvPr id="20" name="TextBox 19"/>
          <p:cNvSpPr txBox="1"/>
          <p:nvPr/>
        </p:nvSpPr>
        <p:spPr>
          <a:xfrm>
            <a:off x="1325880" y="4727448"/>
            <a:ext cx="4572000" cy="228600"/>
          </a:xfrm>
          <a:prstGeom prst="rect">
            <a:avLst/>
          </a:prstGeom>
          <a:noFill/>
        </p:spPr>
        <p:txBody>
          <a:bodyPr wrap="square">
            <a:spAutoFit/>
          </a:bodyPr>
          <a:lstStyle/>
          <a:p>
            <a:pPr algn="l"/>
            <a:r>
              <a:rPr sz="1000" b="0" i="0">
                <a:solidFill>
                  <a:srgbClr val="4A2F47"/>
                </a:solidFill>
                <a:latin typeface="Calibri"/>
              </a:rPr>
              <a:t>PDL Sourcing Agent — maps target candidate pools, especially senior commercial talent</a:t>
            </a:r>
          </a:p>
        </p:txBody>
      </p:sp>
      <p:sp>
        <p:nvSpPr>
          <p:cNvPr id="21" name="TextBox 20"/>
          <p:cNvSpPr txBox="1"/>
          <p:nvPr/>
        </p:nvSpPr>
        <p:spPr>
          <a:xfrm>
            <a:off x="960120" y="5111496"/>
            <a:ext cx="320040" cy="228600"/>
          </a:xfrm>
          <a:prstGeom prst="rect">
            <a:avLst/>
          </a:prstGeom>
          <a:noFill/>
        </p:spPr>
        <p:txBody>
          <a:bodyPr wrap="square">
            <a:spAutoFit/>
          </a:bodyPr>
          <a:lstStyle/>
          <a:p>
            <a:pPr algn="l"/>
            <a:r>
              <a:rPr sz="800" b="0" i="0">
                <a:solidFill>
                  <a:srgbClr val="E6007E"/>
                </a:solidFill>
                <a:latin typeface="Calibri"/>
              </a:rPr>
              <a:t>02</a:t>
            </a:r>
          </a:p>
        </p:txBody>
      </p:sp>
      <p:sp>
        <p:nvSpPr>
          <p:cNvPr id="22" name="TextBox 21"/>
          <p:cNvSpPr txBox="1"/>
          <p:nvPr/>
        </p:nvSpPr>
        <p:spPr>
          <a:xfrm>
            <a:off x="1325880" y="5111496"/>
            <a:ext cx="4572000" cy="228600"/>
          </a:xfrm>
          <a:prstGeom prst="rect">
            <a:avLst/>
          </a:prstGeom>
          <a:noFill/>
        </p:spPr>
        <p:txBody>
          <a:bodyPr wrap="square">
            <a:spAutoFit/>
          </a:bodyPr>
          <a:lstStyle/>
          <a:p>
            <a:pPr algn="l"/>
            <a:r>
              <a:rPr sz="1000" b="0" i="0">
                <a:solidFill>
                  <a:srgbClr val="4A2F47"/>
                </a:solidFill>
                <a:latin typeface="Calibri"/>
              </a:rPr>
              <a:t>Interview Transcript Scorer — calibrates assessment across interviewers, removes bottleneck</a:t>
            </a:r>
          </a:p>
        </p:txBody>
      </p:sp>
      <p:sp>
        <p:nvSpPr>
          <p:cNvPr id="23" name="TextBox 22"/>
          <p:cNvSpPr txBox="1"/>
          <p:nvPr/>
        </p:nvSpPr>
        <p:spPr>
          <a:xfrm>
            <a:off x="960120" y="5495544"/>
            <a:ext cx="320040" cy="228600"/>
          </a:xfrm>
          <a:prstGeom prst="rect">
            <a:avLst/>
          </a:prstGeom>
          <a:noFill/>
        </p:spPr>
        <p:txBody>
          <a:bodyPr wrap="square">
            <a:spAutoFit/>
          </a:bodyPr>
          <a:lstStyle/>
          <a:p>
            <a:pPr algn="l"/>
            <a:r>
              <a:rPr sz="800" b="0" i="0">
                <a:solidFill>
                  <a:srgbClr val="E6007E"/>
                </a:solidFill>
                <a:latin typeface="Calibri"/>
              </a:rPr>
              <a:t>03</a:t>
            </a:r>
          </a:p>
        </p:txBody>
      </p:sp>
      <p:sp>
        <p:nvSpPr>
          <p:cNvPr id="24" name="TextBox 23"/>
          <p:cNvSpPr txBox="1"/>
          <p:nvPr/>
        </p:nvSpPr>
        <p:spPr>
          <a:xfrm>
            <a:off x="1325880" y="5495544"/>
            <a:ext cx="4572000" cy="228600"/>
          </a:xfrm>
          <a:prstGeom prst="rect">
            <a:avLst/>
          </a:prstGeom>
          <a:noFill/>
        </p:spPr>
        <p:txBody>
          <a:bodyPr wrap="square">
            <a:spAutoFit/>
          </a:bodyPr>
          <a:lstStyle/>
          <a:p>
            <a:pPr algn="l"/>
            <a:r>
              <a:rPr sz="1000" b="0" i="0">
                <a:solidFill>
                  <a:srgbClr val="4A2F47"/>
                </a:solidFill>
                <a:latin typeface="Calibri"/>
              </a:rPr>
              <a:t>JD Architect — role specs from Impact Profiles in minutes, not days</a:t>
            </a:r>
          </a:p>
        </p:txBody>
      </p:sp>
      <p:sp>
        <p:nvSpPr>
          <p:cNvPr id="25" name="TextBox 24"/>
          <p:cNvSpPr txBox="1"/>
          <p:nvPr/>
        </p:nvSpPr>
        <p:spPr>
          <a:xfrm>
            <a:off x="960120" y="5879592"/>
            <a:ext cx="320040" cy="228600"/>
          </a:xfrm>
          <a:prstGeom prst="rect">
            <a:avLst/>
          </a:prstGeom>
          <a:noFill/>
        </p:spPr>
        <p:txBody>
          <a:bodyPr wrap="square">
            <a:spAutoFit/>
          </a:bodyPr>
          <a:lstStyle/>
          <a:p>
            <a:pPr algn="l"/>
            <a:r>
              <a:rPr sz="800" b="0" i="0">
                <a:solidFill>
                  <a:srgbClr val="E6007E"/>
                </a:solidFill>
                <a:latin typeface="Calibri"/>
              </a:rPr>
              <a:t>04</a:t>
            </a:r>
          </a:p>
        </p:txBody>
      </p:sp>
      <p:sp>
        <p:nvSpPr>
          <p:cNvPr id="26" name="TextBox 25"/>
          <p:cNvSpPr txBox="1"/>
          <p:nvPr/>
        </p:nvSpPr>
        <p:spPr>
          <a:xfrm>
            <a:off x="1325880" y="5879592"/>
            <a:ext cx="4572000" cy="228600"/>
          </a:xfrm>
          <a:prstGeom prst="rect">
            <a:avLst/>
          </a:prstGeom>
          <a:noFill/>
        </p:spPr>
        <p:txBody>
          <a:bodyPr wrap="square">
            <a:spAutoFit/>
          </a:bodyPr>
          <a:lstStyle/>
          <a:p>
            <a:pPr algn="l"/>
            <a:r>
              <a:rPr sz="1000" b="0" i="0">
                <a:solidFill>
                  <a:srgbClr val="4A2F47"/>
                </a:solidFill>
                <a:latin typeface="Calibri"/>
              </a:rPr>
              <a:t>Comp Benchmarker — live competitor JDs, normalised bands, keeps the envelope honest</a:t>
            </a:r>
          </a:p>
        </p:txBody>
      </p:sp>
      <p:sp>
        <p:nvSpPr>
          <p:cNvPr id="27" name="TextBox 26"/>
          <p:cNvSpPr txBox="1"/>
          <p:nvPr/>
        </p:nvSpPr>
        <p:spPr>
          <a:xfrm>
            <a:off x="960120" y="6327648"/>
            <a:ext cx="4846320" cy="203200"/>
          </a:xfrm>
          <a:prstGeom prst="rect">
            <a:avLst/>
          </a:prstGeom>
          <a:noFill/>
        </p:spPr>
        <p:txBody>
          <a:bodyPr wrap="square">
            <a:spAutoFit/>
          </a:bodyPr>
          <a:lstStyle/>
          <a:p>
            <a:pPr algn="l"/>
            <a:r>
              <a:rPr sz="800" b="0" i="0">
                <a:solidFill>
                  <a:srgbClr val="8A7585"/>
                </a:solidFill>
                <a:latin typeface="Calibri"/>
              </a:rPr>
              <a:t>Not theoretical. Battle-tested. Transferable. Live demo available.</a:t>
            </a:r>
          </a:p>
        </p:txBody>
      </p:sp>
      <p:sp>
        <p:nvSpPr>
          <p:cNvPr id="28" name="Rectangle 27"/>
          <p:cNvSpPr/>
          <p:nvPr/>
        </p:nvSpPr>
        <p:spPr>
          <a:xfrm>
            <a:off x="6126480" y="2377440"/>
            <a:ext cx="516636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487168"/>
            <a:ext cx="4846320" cy="254000"/>
          </a:xfrm>
          <a:prstGeom prst="rect">
            <a:avLst/>
          </a:prstGeom>
          <a:noFill/>
        </p:spPr>
        <p:txBody>
          <a:bodyPr wrap="square">
            <a:spAutoFit/>
          </a:bodyPr>
          <a:lstStyle/>
          <a:p>
            <a:pPr algn="l"/>
            <a:r>
              <a:rPr sz="1200" b="1" i="0">
                <a:solidFill>
                  <a:srgbClr val="1A0918"/>
                </a:solidFill>
                <a:latin typeface="Calibri"/>
              </a:rPr>
              <a:t>What senior candidates are actually evaluating</a:t>
            </a:r>
          </a:p>
        </p:txBody>
      </p:sp>
      <p:sp>
        <p:nvSpPr>
          <p:cNvPr id="30" name="TextBox 29"/>
          <p:cNvSpPr txBox="1"/>
          <p:nvPr/>
        </p:nvSpPr>
        <p:spPr>
          <a:xfrm>
            <a:off x="6263640" y="2798064"/>
            <a:ext cx="4846320" cy="640080"/>
          </a:xfrm>
          <a:prstGeom prst="rect">
            <a:avLst/>
          </a:prstGeom>
          <a:noFill/>
        </p:spPr>
        <p:txBody>
          <a:bodyPr wrap="square">
            <a:spAutoFit/>
          </a:bodyPr>
          <a:lstStyle/>
          <a:p>
            <a:pPr algn="l"/>
            <a:r>
              <a:rPr sz="1000" b="0" i="0">
                <a:solidFill>
                  <a:srgbClr val="4A2F47"/>
                </a:solidFill>
                <a:latin typeface="Calibri"/>
              </a:rPr>
              <a:t>In 2026, senior candidates think about their next role as an investment of career capital — two to three years of their life, the company is the asset, and they want to know the ROI.</a:t>
            </a:r>
          </a:p>
        </p:txBody>
      </p:sp>
      <p:sp>
        <p:nvSpPr>
          <p:cNvPr id="31" name="TextBox 30"/>
          <p:cNvSpPr txBox="1"/>
          <p:nvPr/>
        </p:nvSpPr>
        <p:spPr>
          <a:xfrm>
            <a:off x="6263640" y="3547872"/>
            <a:ext cx="4846320" cy="228600"/>
          </a:xfrm>
          <a:prstGeom prst="rect">
            <a:avLst/>
          </a:prstGeom>
          <a:noFill/>
        </p:spPr>
        <p:txBody>
          <a:bodyPr wrap="square">
            <a:spAutoFit/>
          </a:bodyPr>
          <a:lstStyle/>
          <a:p>
            <a:pPr algn="l"/>
            <a:r>
              <a:rPr sz="1000" b="1" i="0">
                <a:solidFill>
                  <a:srgbClr val="1A0918"/>
                </a:solidFill>
                <a:latin typeface="Calibri"/>
              </a:rPr>
              <a:t>▶  Purpose with ROI on skills:</a:t>
            </a:r>
          </a:p>
        </p:txBody>
      </p:sp>
      <p:sp>
        <p:nvSpPr>
          <p:cNvPr id="32" name="TextBox 31"/>
          <p:cNvSpPr txBox="1"/>
          <p:nvPr/>
        </p:nvSpPr>
        <p:spPr>
          <a:xfrm>
            <a:off x="6263640" y="3767328"/>
            <a:ext cx="4846320" cy="365760"/>
          </a:xfrm>
          <a:prstGeom prst="rect">
            <a:avLst/>
          </a:prstGeom>
          <a:noFill/>
        </p:spPr>
        <p:txBody>
          <a:bodyPr wrap="square">
            <a:spAutoFit/>
          </a:bodyPr>
          <a:lstStyle/>
          <a:p>
            <a:pPr algn="l"/>
            <a:r>
              <a:rPr sz="1000" b="0" i="0">
                <a:solidFill>
                  <a:srgbClr val="4A2F47"/>
                </a:solidFill>
                <a:latin typeface="Calibri"/>
              </a:rPr>
              <a:t>Trybe offers building blocks senior operators rarely get — category-defining work, AI-native build, embedded payments, international scale-up.</a:t>
            </a:r>
          </a:p>
        </p:txBody>
      </p:sp>
      <p:sp>
        <p:nvSpPr>
          <p:cNvPr id="33" name="TextBox 32"/>
          <p:cNvSpPr txBox="1"/>
          <p:nvPr/>
        </p:nvSpPr>
        <p:spPr>
          <a:xfrm>
            <a:off x="6263640" y="4224528"/>
            <a:ext cx="4846320" cy="228600"/>
          </a:xfrm>
          <a:prstGeom prst="rect">
            <a:avLst/>
          </a:prstGeom>
          <a:noFill/>
        </p:spPr>
        <p:txBody>
          <a:bodyPr wrap="square">
            <a:spAutoFit/>
          </a:bodyPr>
          <a:lstStyle/>
          <a:p>
            <a:pPr algn="l"/>
            <a:r>
              <a:rPr sz="1000" b="1" i="0">
                <a:solidFill>
                  <a:srgbClr val="1A0918"/>
                </a:solidFill>
                <a:latin typeface="Calibri"/>
              </a:rPr>
              <a:t>▶  Team that expands the network:</a:t>
            </a:r>
          </a:p>
        </p:txBody>
      </p:sp>
      <p:sp>
        <p:nvSpPr>
          <p:cNvPr id="34" name="TextBox 33"/>
          <p:cNvSpPr txBox="1"/>
          <p:nvPr/>
        </p:nvSpPr>
        <p:spPr>
          <a:xfrm>
            <a:off x="6263640" y="4443984"/>
            <a:ext cx="4846320" cy="365760"/>
          </a:xfrm>
          <a:prstGeom prst="rect">
            <a:avLst/>
          </a:prstGeom>
          <a:noFill/>
        </p:spPr>
        <p:txBody>
          <a:bodyPr wrap="square">
            <a:spAutoFit/>
          </a:bodyPr>
          <a:lstStyle/>
          <a:p>
            <a:pPr algn="l"/>
            <a:r>
              <a:rPr sz="1000" b="0" i="0">
                <a:solidFill>
                  <a:srgbClr val="4A2F47"/>
                </a:solidFill>
                <a:latin typeface="Calibri"/>
              </a:rPr>
              <a:t>Trybe's senior team is small enough that every relationship is real. The Five Elms portfolio extends the network across 70+ companies.</a:t>
            </a:r>
          </a:p>
        </p:txBody>
      </p:sp>
      <p:sp>
        <p:nvSpPr>
          <p:cNvPr id="35" name="TextBox 34"/>
          <p:cNvSpPr txBox="1"/>
          <p:nvPr/>
        </p:nvSpPr>
        <p:spPr>
          <a:xfrm>
            <a:off x="6263640" y="4901184"/>
            <a:ext cx="4846320" cy="228600"/>
          </a:xfrm>
          <a:prstGeom prst="rect">
            <a:avLst/>
          </a:prstGeom>
          <a:noFill/>
        </p:spPr>
        <p:txBody>
          <a:bodyPr wrap="square">
            <a:spAutoFit/>
          </a:bodyPr>
          <a:lstStyle/>
          <a:p>
            <a:pPr algn="l"/>
            <a:r>
              <a:rPr sz="1000" b="1" i="0">
                <a:solidFill>
                  <a:srgbClr val="1A0918"/>
                </a:solidFill>
                <a:latin typeface="Calibri"/>
              </a:rPr>
              <a:t>▶  Challenger story that builds reputation:</a:t>
            </a:r>
          </a:p>
        </p:txBody>
      </p:sp>
      <p:sp>
        <p:nvSpPr>
          <p:cNvPr id="36" name="TextBox 35"/>
          <p:cNvSpPr txBox="1"/>
          <p:nvPr/>
        </p:nvSpPr>
        <p:spPr>
          <a:xfrm>
            <a:off x="6263640" y="5120640"/>
            <a:ext cx="4846320" cy="365760"/>
          </a:xfrm>
          <a:prstGeom prst="rect">
            <a:avLst/>
          </a:prstGeom>
          <a:noFill/>
        </p:spPr>
        <p:txBody>
          <a:bodyPr wrap="square">
            <a:spAutoFit/>
          </a:bodyPr>
          <a:lstStyle/>
          <a:p>
            <a:pPr algn="l"/>
            <a:r>
              <a:rPr sz="1000" b="0" i="0">
                <a:solidFill>
                  <a:srgbClr val="4A2F47"/>
                </a:solidFill>
                <a:latin typeface="Calibri"/>
              </a:rPr>
              <a:t>'I was at Trybe when they took on Mews and won' is asymmetric reputation upside.</a:t>
            </a:r>
          </a:p>
        </p:txBody>
      </p:sp>
      <p:sp>
        <p:nvSpPr>
          <p:cNvPr id="37" name="TextBox 36"/>
          <p:cNvSpPr txBox="1"/>
          <p:nvPr/>
        </p:nvSpPr>
        <p:spPr>
          <a:xfrm>
            <a:off x="6263640" y="5577840"/>
            <a:ext cx="4846320" cy="228600"/>
          </a:xfrm>
          <a:prstGeom prst="rect">
            <a:avLst/>
          </a:prstGeom>
          <a:noFill/>
        </p:spPr>
        <p:txBody>
          <a:bodyPr wrap="square">
            <a:spAutoFit/>
          </a:bodyPr>
          <a:lstStyle/>
          <a:p>
            <a:pPr algn="l"/>
            <a:r>
              <a:rPr sz="1000" b="1" i="0">
                <a:solidFill>
                  <a:srgbClr val="1A0918"/>
                </a:solidFill>
                <a:latin typeface="Calibri"/>
              </a:rPr>
              <a:t>▶  Material conditions that protect the downside:</a:t>
            </a:r>
          </a:p>
        </p:txBody>
      </p:sp>
      <p:sp>
        <p:nvSpPr>
          <p:cNvPr id="38" name="TextBox 37"/>
          <p:cNvSpPr txBox="1"/>
          <p:nvPr/>
        </p:nvSpPr>
        <p:spPr>
          <a:xfrm>
            <a:off x="6263640" y="5797296"/>
            <a:ext cx="4846320" cy="365760"/>
          </a:xfrm>
          <a:prstGeom prst="rect">
            <a:avLst/>
          </a:prstGeom>
          <a:noFill/>
        </p:spPr>
        <p:txBody>
          <a:bodyPr wrap="square">
            <a:spAutoFit/>
          </a:bodyPr>
          <a:lstStyle/>
          <a:p>
            <a:pPr algn="l"/>
            <a:r>
              <a:rPr sz="1000" b="0" i="0">
                <a:solidFill>
                  <a:srgbClr val="4A2F47"/>
                </a:solidFill>
                <a:latin typeface="Calibri"/>
              </a:rPr>
              <a:t>Comp framework v1 inside 90 days; progression framework inside 6 months. The thesis has to be real, not staged.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11 · Team structure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Leadership and team structure</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000" b="0" i="0">
                <a:solidFill>
                  <a:srgbClr val="1A0918"/>
                </a:solidFill>
                <a:latin typeface="Calibri"/>
              </a:rPr>
              <a:t>Right-sized for what the work actually requires.</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200" b="0" i="0">
                <a:solidFill>
                  <a:srgbClr val="4A2F47"/>
                </a:solidFill>
                <a:latin typeface="Calibri"/>
              </a:rPr>
              <a:t>Solo for the first 90–120 days while diagnosing. Team of two from month 4. Holding at two through year three because the system carries the standard, not the headcount.</a:t>
            </a:r>
          </a:p>
        </p:txBody>
      </p:sp>
      <p:sp>
        <p:nvSpPr>
          <p:cNvPr id="7" name="Rectangle 6"/>
          <p:cNvSpPr/>
          <p:nvPr/>
        </p:nvSpPr>
        <p:spPr>
          <a:xfrm>
            <a:off x="822960" y="2377440"/>
            <a:ext cx="274320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377440"/>
            <a:ext cx="274320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377440"/>
            <a:ext cx="914400"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487168"/>
            <a:ext cx="2560320" cy="203200"/>
          </a:xfrm>
          <a:prstGeom prst="rect">
            <a:avLst/>
          </a:prstGeom>
          <a:noFill/>
        </p:spPr>
        <p:txBody>
          <a:bodyPr wrap="square">
            <a:spAutoFit/>
          </a:bodyPr>
          <a:lstStyle/>
          <a:p>
            <a:pPr algn="l"/>
            <a:r>
              <a:rPr sz="800" b="0" i="0">
                <a:solidFill>
                  <a:srgbClr val="E6007E"/>
                </a:solidFill>
                <a:latin typeface="Calibri"/>
              </a:rPr>
              <a:t>YEAR 1 · 40–60 PEOPLE</a:t>
            </a:r>
          </a:p>
        </p:txBody>
      </p:sp>
      <p:sp>
        <p:nvSpPr>
          <p:cNvPr id="11" name="TextBox 10"/>
          <p:cNvSpPr txBox="1"/>
          <p:nvPr/>
        </p:nvSpPr>
        <p:spPr>
          <a:xfrm>
            <a:off x="960120" y="2724912"/>
            <a:ext cx="2560320" cy="279400"/>
          </a:xfrm>
          <a:prstGeom prst="rect">
            <a:avLst/>
          </a:prstGeom>
          <a:noFill/>
        </p:spPr>
        <p:txBody>
          <a:bodyPr wrap="square">
            <a:spAutoFit/>
          </a:bodyPr>
          <a:lstStyle/>
          <a:p>
            <a:pPr algn="l"/>
            <a:r>
              <a:rPr sz="1300" b="1" i="0">
                <a:solidFill>
                  <a:srgbClr val="1A0918"/>
                </a:solidFill>
                <a:latin typeface="Calibri"/>
              </a:rPr>
              <a:t>Solo → team of two</a:t>
            </a:r>
          </a:p>
        </p:txBody>
      </p:sp>
      <p:sp>
        <p:nvSpPr>
          <p:cNvPr id="12" name="TextBox 11"/>
          <p:cNvSpPr txBox="1"/>
          <p:nvPr/>
        </p:nvSpPr>
        <p:spPr>
          <a:xfrm>
            <a:off x="960120" y="3063240"/>
            <a:ext cx="2514600" cy="658368"/>
          </a:xfrm>
          <a:prstGeom prst="rect">
            <a:avLst/>
          </a:prstGeom>
          <a:noFill/>
        </p:spPr>
        <p:txBody>
          <a:bodyPr wrap="square">
            <a:spAutoFit/>
          </a:bodyPr>
          <a:lstStyle/>
          <a:p>
            <a:pPr algn="l"/>
            <a:r>
              <a:rPr sz="1000" b="0" i="0">
                <a:solidFill>
                  <a:srgbClr val="4A2F47"/>
                </a:solidFill>
                <a:latin typeface="Calibri"/>
              </a:rPr>
              <a:t>▸  Months 1–3 (solo): Listen-first with every senior person. Audit current state. Initial People strategy co-created with founders.</a:t>
            </a:r>
          </a:p>
        </p:txBody>
      </p:sp>
      <p:sp>
        <p:nvSpPr>
          <p:cNvPr id="13" name="TextBox 12"/>
          <p:cNvSpPr txBox="1"/>
          <p:nvPr/>
        </p:nvSpPr>
        <p:spPr>
          <a:xfrm>
            <a:off x="960120" y="3749040"/>
            <a:ext cx="2514600" cy="658368"/>
          </a:xfrm>
          <a:prstGeom prst="rect">
            <a:avLst/>
          </a:prstGeom>
          <a:noFill/>
        </p:spPr>
        <p:txBody>
          <a:bodyPr wrap="square">
            <a:spAutoFit/>
          </a:bodyPr>
          <a:lstStyle/>
          <a:p>
            <a:pPr algn="l"/>
            <a:r>
              <a:rPr sz="1000" b="0" i="0">
                <a:solidFill>
                  <a:srgbClr val="4A2F47"/>
                </a:solidFill>
                <a:latin typeface="Calibri"/>
              </a:rPr>
              <a:t>▸  Month 4–6 (second seat): Impact Profiles for 50% of roles. Performance system pilot. Hiring infrastructure. Manager workshops. Comp framework v1.</a:t>
            </a:r>
          </a:p>
        </p:txBody>
      </p:sp>
      <p:sp>
        <p:nvSpPr>
          <p:cNvPr id="14" name="TextBox 13"/>
          <p:cNvSpPr txBox="1"/>
          <p:nvPr/>
        </p:nvSpPr>
        <p:spPr>
          <a:xfrm>
            <a:off x="960120" y="4434840"/>
            <a:ext cx="2514600" cy="658368"/>
          </a:xfrm>
          <a:prstGeom prst="rect">
            <a:avLst/>
          </a:prstGeom>
          <a:noFill/>
        </p:spPr>
        <p:txBody>
          <a:bodyPr wrap="square">
            <a:spAutoFit/>
          </a:bodyPr>
          <a:lstStyle/>
          <a:p>
            <a:pPr algn="l"/>
            <a:r>
              <a:rPr sz="1000" b="0" i="0">
                <a:solidFill>
                  <a:srgbClr val="4A2F47"/>
                </a:solidFill>
                <a:latin typeface="Calibri"/>
              </a:rPr>
              <a:t>▸  Second hire isn't inheriting a finished system — co-building it with me from week one.</a:t>
            </a:r>
          </a:p>
        </p:txBody>
      </p:sp>
      <p:sp>
        <p:nvSpPr>
          <p:cNvPr id="15" name="Rectangle 14"/>
          <p:cNvSpPr/>
          <p:nvPr/>
        </p:nvSpPr>
        <p:spPr>
          <a:xfrm>
            <a:off x="3749040" y="2377440"/>
            <a:ext cx="274320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49040" y="2377440"/>
            <a:ext cx="274320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49040" y="2377440"/>
            <a:ext cx="1828800"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86200" y="2487168"/>
            <a:ext cx="2560320" cy="203200"/>
          </a:xfrm>
          <a:prstGeom prst="rect">
            <a:avLst/>
          </a:prstGeom>
          <a:noFill/>
        </p:spPr>
        <p:txBody>
          <a:bodyPr wrap="square">
            <a:spAutoFit/>
          </a:bodyPr>
          <a:lstStyle/>
          <a:p>
            <a:pPr algn="l"/>
            <a:r>
              <a:rPr sz="800" b="0" i="0">
                <a:solidFill>
                  <a:srgbClr val="E6007E"/>
                </a:solidFill>
                <a:latin typeface="Calibri"/>
              </a:rPr>
              <a:t>YEAR 2 · 60–75 PEOPLE</a:t>
            </a:r>
          </a:p>
        </p:txBody>
      </p:sp>
      <p:sp>
        <p:nvSpPr>
          <p:cNvPr id="19" name="TextBox 18"/>
          <p:cNvSpPr txBox="1"/>
          <p:nvPr/>
        </p:nvSpPr>
        <p:spPr>
          <a:xfrm>
            <a:off x="3886200" y="2724912"/>
            <a:ext cx="2560320" cy="279400"/>
          </a:xfrm>
          <a:prstGeom prst="rect">
            <a:avLst/>
          </a:prstGeom>
          <a:noFill/>
        </p:spPr>
        <p:txBody>
          <a:bodyPr wrap="square">
            <a:spAutoFit/>
          </a:bodyPr>
          <a:lstStyle/>
          <a:p>
            <a:pPr algn="l"/>
            <a:r>
              <a:rPr sz="1300" b="1" i="0">
                <a:solidFill>
                  <a:srgbClr val="1A0918"/>
                </a:solidFill>
                <a:latin typeface="Calibri"/>
              </a:rPr>
              <a:t>Team of two · deeper systems</a:t>
            </a:r>
          </a:p>
        </p:txBody>
      </p:sp>
      <p:sp>
        <p:nvSpPr>
          <p:cNvPr id="20" name="TextBox 19"/>
          <p:cNvSpPr txBox="1"/>
          <p:nvPr/>
        </p:nvSpPr>
        <p:spPr>
          <a:xfrm>
            <a:off x="3886200" y="3063240"/>
            <a:ext cx="2514600" cy="658368"/>
          </a:xfrm>
          <a:prstGeom prst="rect">
            <a:avLst/>
          </a:prstGeom>
          <a:noFill/>
        </p:spPr>
        <p:txBody>
          <a:bodyPr wrap="square">
            <a:spAutoFit/>
          </a:bodyPr>
          <a:lstStyle/>
          <a:p>
            <a:pPr algn="l"/>
            <a:r>
              <a:rPr sz="1000" b="0" i="0">
                <a:solidFill>
                  <a:srgbClr val="4A2F47"/>
                </a:solidFill>
                <a:latin typeface="Calibri"/>
              </a:rPr>
              <a:t>▸  Team stays at two. The work scales because the systems do, not because headcount does.</a:t>
            </a:r>
          </a:p>
        </p:txBody>
      </p:sp>
      <p:sp>
        <p:nvSpPr>
          <p:cNvPr id="21" name="TextBox 20"/>
          <p:cNvSpPr txBox="1"/>
          <p:nvPr/>
        </p:nvSpPr>
        <p:spPr>
          <a:xfrm>
            <a:off x="3886200" y="3749040"/>
            <a:ext cx="2514600" cy="658368"/>
          </a:xfrm>
          <a:prstGeom prst="rect">
            <a:avLst/>
          </a:prstGeom>
          <a:noFill/>
        </p:spPr>
        <p:txBody>
          <a:bodyPr wrap="square">
            <a:spAutoFit/>
          </a:bodyPr>
          <a:lstStyle/>
          <a:p>
            <a:pPr algn="l"/>
            <a:r>
              <a:rPr sz="1000" b="0" i="0">
                <a:solidFill>
                  <a:srgbClr val="4A2F47"/>
                </a:solidFill>
                <a:latin typeface="Calibri"/>
              </a:rPr>
              <a:t>▸  AI tooling matures across hiring, performance, onboarding, employee experience.</a:t>
            </a:r>
          </a:p>
        </p:txBody>
      </p:sp>
      <p:sp>
        <p:nvSpPr>
          <p:cNvPr id="22" name="TextBox 21"/>
          <p:cNvSpPr txBox="1"/>
          <p:nvPr/>
        </p:nvSpPr>
        <p:spPr>
          <a:xfrm>
            <a:off x="3886200" y="4434840"/>
            <a:ext cx="2514600" cy="658368"/>
          </a:xfrm>
          <a:prstGeom prst="rect">
            <a:avLst/>
          </a:prstGeom>
          <a:noFill/>
        </p:spPr>
        <p:txBody>
          <a:bodyPr wrap="square">
            <a:spAutoFit/>
          </a:bodyPr>
          <a:lstStyle/>
          <a:p>
            <a:pPr algn="l"/>
            <a:r>
              <a:rPr sz="1000" b="0" i="0">
                <a:solidFill>
                  <a:srgbClr val="4A2F47"/>
                </a:solidFill>
                <a:latin typeface="Calibri"/>
              </a:rPr>
              <a:t>▸  Second seat grows into deeper specialisation — Talent Partner or People Business Partner.</a:t>
            </a:r>
          </a:p>
        </p:txBody>
      </p:sp>
      <p:sp>
        <p:nvSpPr>
          <p:cNvPr id="23" name="Rectangle 22"/>
          <p:cNvSpPr/>
          <p:nvPr/>
        </p:nvSpPr>
        <p:spPr>
          <a:xfrm>
            <a:off x="6675120" y="2377440"/>
            <a:ext cx="2743200"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2377440"/>
            <a:ext cx="274320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2377440"/>
            <a:ext cx="2743200"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2487168"/>
            <a:ext cx="2560320" cy="203200"/>
          </a:xfrm>
          <a:prstGeom prst="rect">
            <a:avLst/>
          </a:prstGeom>
          <a:noFill/>
        </p:spPr>
        <p:txBody>
          <a:bodyPr wrap="square">
            <a:spAutoFit/>
          </a:bodyPr>
          <a:lstStyle/>
          <a:p>
            <a:pPr algn="l"/>
            <a:r>
              <a:rPr sz="800" b="0" i="0">
                <a:solidFill>
                  <a:srgbClr val="E6007E"/>
                </a:solidFill>
                <a:latin typeface="Calibri"/>
              </a:rPr>
              <a:t>YEAR 3 · 75–85 PEOPLE</a:t>
            </a:r>
          </a:p>
        </p:txBody>
      </p:sp>
      <p:sp>
        <p:nvSpPr>
          <p:cNvPr id="27" name="TextBox 26"/>
          <p:cNvSpPr txBox="1"/>
          <p:nvPr/>
        </p:nvSpPr>
        <p:spPr>
          <a:xfrm>
            <a:off x="6812280" y="2724912"/>
            <a:ext cx="2560320" cy="279400"/>
          </a:xfrm>
          <a:prstGeom prst="rect">
            <a:avLst/>
          </a:prstGeom>
          <a:noFill/>
        </p:spPr>
        <p:txBody>
          <a:bodyPr wrap="square">
            <a:spAutoFit/>
          </a:bodyPr>
          <a:lstStyle/>
          <a:p>
            <a:pPr algn="l"/>
            <a:r>
              <a:rPr sz="1300" b="1" i="0">
                <a:solidFill>
                  <a:srgbClr val="1A0918"/>
                </a:solidFill>
                <a:latin typeface="Calibri"/>
              </a:rPr>
              <a:t>Considered third seat only</a:t>
            </a:r>
          </a:p>
        </p:txBody>
      </p:sp>
      <p:sp>
        <p:nvSpPr>
          <p:cNvPr id="28" name="TextBox 27"/>
          <p:cNvSpPr txBox="1"/>
          <p:nvPr/>
        </p:nvSpPr>
        <p:spPr>
          <a:xfrm>
            <a:off x="6812280" y="3063240"/>
            <a:ext cx="2514600" cy="658368"/>
          </a:xfrm>
          <a:prstGeom prst="rect">
            <a:avLst/>
          </a:prstGeom>
          <a:noFill/>
        </p:spPr>
        <p:txBody>
          <a:bodyPr wrap="square">
            <a:spAutoFit/>
          </a:bodyPr>
          <a:lstStyle/>
          <a:p>
            <a:pPr algn="l"/>
            <a:r>
              <a:rPr sz="1000" b="0" i="0">
                <a:solidFill>
                  <a:srgbClr val="4A2F47"/>
                </a:solidFill>
                <a:latin typeface="Calibri"/>
              </a:rPr>
              <a:t>▸  Triggers: US team beyond 15–20 people; step-change in hiring volume at Series B.</a:t>
            </a:r>
          </a:p>
        </p:txBody>
      </p:sp>
      <p:sp>
        <p:nvSpPr>
          <p:cNvPr id="29" name="TextBox 28"/>
          <p:cNvSpPr txBox="1"/>
          <p:nvPr/>
        </p:nvSpPr>
        <p:spPr>
          <a:xfrm>
            <a:off x="6812280" y="3749040"/>
            <a:ext cx="2514600" cy="658368"/>
          </a:xfrm>
          <a:prstGeom prst="rect">
            <a:avLst/>
          </a:prstGeom>
          <a:noFill/>
        </p:spPr>
        <p:txBody>
          <a:bodyPr wrap="square">
            <a:spAutoFit/>
          </a:bodyPr>
          <a:lstStyle/>
          <a:p>
            <a:pPr algn="l"/>
            <a:r>
              <a:rPr sz="1000" b="0" i="0">
                <a:solidFill>
                  <a:srgbClr val="4A2F47"/>
                </a:solidFill>
                <a:latin typeface="Calibri"/>
              </a:rPr>
              <a:t>▸  Without a clear trigger, team stays at two.</a:t>
            </a:r>
          </a:p>
        </p:txBody>
      </p:sp>
      <p:sp>
        <p:nvSpPr>
          <p:cNvPr id="30" name="TextBox 29"/>
          <p:cNvSpPr txBox="1"/>
          <p:nvPr/>
        </p:nvSpPr>
        <p:spPr>
          <a:xfrm>
            <a:off x="6812280" y="4434840"/>
            <a:ext cx="2514600" cy="658368"/>
          </a:xfrm>
          <a:prstGeom prst="rect">
            <a:avLst/>
          </a:prstGeom>
          <a:noFill/>
        </p:spPr>
        <p:txBody>
          <a:bodyPr wrap="square">
            <a:spAutoFit/>
          </a:bodyPr>
          <a:lstStyle/>
          <a:p>
            <a:pPr algn="l"/>
            <a:r>
              <a:rPr sz="1000" b="0" i="0">
                <a:solidFill>
                  <a:srgbClr val="4A2F47"/>
                </a:solidFill>
                <a:latin typeface="Calibri"/>
              </a:rPr>
              <a:t>▸  AI is what keeps the team small. The second seat is what makes the function effective.</a:t>
            </a:r>
          </a:p>
        </p:txBody>
      </p:sp>
      <p:sp>
        <p:nvSpPr>
          <p:cNvPr id="31" name="Rectangle 30"/>
          <p:cNvSpPr/>
          <p:nvPr/>
        </p:nvSpPr>
        <p:spPr>
          <a:xfrm>
            <a:off x="9189720" y="2377440"/>
            <a:ext cx="2176272" cy="41605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2487168"/>
            <a:ext cx="1920240" cy="279400"/>
          </a:xfrm>
          <a:prstGeom prst="rect">
            <a:avLst/>
          </a:prstGeom>
          <a:noFill/>
        </p:spPr>
        <p:txBody>
          <a:bodyPr wrap="square">
            <a:spAutoFit/>
          </a:bodyPr>
          <a:lstStyle/>
          <a:p>
            <a:pPr algn="l"/>
            <a:r>
              <a:rPr sz="1100" b="1" i="0">
                <a:solidFill>
                  <a:srgbClr val="1A0918"/>
                </a:solidFill>
                <a:latin typeface="Calibri"/>
              </a:rPr>
              <a:t>Operating model with founders</a:t>
            </a:r>
          </a:p>
        </p:txBody>
      </p:sp>
      <p:sp>
        <p:nvSpPr>
          <p:cNvPr id="33" name="TextBox 32"/>
          <p:cNvSpPr txBox="1"/>
          <p:nvPr/>
        </p:nvSpPr>
        <p:spPr>
          <a:xfrm>
            <a:off x="9326880" y="2834640"/>
            <a:ext cx="1920240" cy="203200"/>
          </a:xfrm>
          <a:prstGeom prst="rect">
            <a:avLst/>
          </a:prstGeom>
          <a:noFill/>
        </p:spPr>
        <p:txBody>
          <a:bodyPr wrap="square">
            <a:spAutoFit/>
          </a:bodyPr>
          <a:lstStyle/>
          <a:p>
            <a:pPr algn="l"/>
            <a:r>
              <a:rPr sz="900" b="0" i="0">
                <a:solidFill>
                  <a:srgbClr val="E6007E"/>
                </a:solidFill>
                <a:latin typeface="Calibri"/>
              </a:rPr>
              <a:t>RICKY</a:t>
            </a:r>
          </a:p>
        </p:txBody>
      </p:sp>
      <p:sp>
        <p:nvSpPr>
          <p:cNvPr id="34" name="TextBox 33"/>
          <p:cNvSpPr txBox="1"/>
          <p:nvPr/>
        </p:nvSpPr>
        <p:spPr>
          <a:xfrm>
            <a:off x="9326880" y="3035808"/>
            <a:ext cx="1920240" cy="594360"/>
          </a:xfrm>
          <a:prstGeom prst="rect">
            <a:avLst/>
          </a:prstGeom>
          <a:noFill/>
        </p:spPr>
        <p:txBody>
          <a:bodyPr wrap="square">
            <a:spAutoFit/>
          </a:bodyPr>
          <a:lstStyle/>
          <a:p>
            <a:pPr algn="l"/>
            <a:r>
              <a:rPr sz="900" b="0" i="0">
                <a:solidFill>
                  <a:srgbClr val="4A2F47"/>
                </a:solidFill>
                <a:latin typeface="Calibri"/>
              </a:rPr>
              <a:t>Daily Slack, weekly 1:1, monthly dashboard review. We make decisions together.</a:t>
            </a:r>
          </a:p>
        </p:txBody>
      </p:sp>
      <p:sp>
        <p:nvSpPr>
          <p:cNvPr id="35" name="TextBox 34"/>
          <p:cNvSpPr txBox="1"/>
          <p:nvPr/>
        </p:nvSpPr>
        <p:spPr>
          <a:xfrm>
            <a:off x="9326880" y="3730752"/>
            <a:ext cx="1920240" cy="203200"/>
          </a:xfrm>
          <a:prstGeom prst="rect">
            <a:avLst/>
          </a:prstGeom>
          <a:noFill/>
        </p:spPr>
        <p:txBody>
          <a:bodyPr wrap="square">
            <a:spAutoFit/>
          </a:bodyPr>
          <a:lstStyle/>
          <a:p>
            <a:pPr algn="l"/>
            <a:r>
              <a:rPr sz="900" b="0" i="0">
                <a:solidFill>
                  <a:srgbClr val="E6007E"/>
                </a:solidFill>
                <a:latin typeface="Calibri"/>
              </a:rPr>
              <a:t>WILL</a:t>
            </a:r>
          </a:p>
        </p:txBody>
      </p:sp>
      <p:sp>
        <p:nvSpPr>
          <p:cNvPr id="36" name="TextBox 35"/>
          <p:cNvSpPr txBox="1"/>
          <p:nvPr/>
        </p:nvSpPr>
        <p:spPr>
          <a:xfrm>
            <a:off x="9326880" y="3931920"/>
            <a:ext cx="1920240" cy="594360"/>
          </a:xfrm>
          <a:prstGeom prst="rect">
            <a:avLst/>
          </a:prstGeom>
          <a:noFill/>
        </p:spPr>
        <p:txBody>
          <a:bodyPr wrap="square">
            <a:spAutoFit/>
          </a:bodyPr>
          <a:lstStyle/>
          <a:p>
            <a:pPr algn="l"/>
            <a:r>
              <a:rPr sz="900" b="0" i="0">
                <a:solidFill>
                  <a:srgbClr val="4A2F47"/>
                </a:solidFill>
                <a:latin typeface="Calibri"/>
              </a:rPr>
              <a:t>Monthly catch-up; engineering and product People needs through structured cadence.</a:t>
            </a:r>
          </a:p>
        </p:txBody>
      </p:sp>
      <p:sp>
        <p:nvSpPr>
          <p:cNvPr id="37" name="TextBox 36"/>
          <p:cNvSpPr txBox="1"/>
          <p:nvPr/>
        </p:nvSpPr>
        <p:spPr>
          <a:xfrm>
            <a:off x="9326880" y="4626864"/>
            <a:ext cx="1920240" cy="203200"/>
          </a:xfrm>
          <a:prstGeom prst="rect">
            <a:avLst/>
          </a:prstGeom>
          <a:noFill/>
        </p:spPr>
        <p:txBody>
          <a:bodyPr wrap="square">
            <a:spAutoFit/>
          </a:bodyPr>
          <a:lstStyle/>
          <a:p>
            <a:pPr algn="l"/>
            <a:r>
              <a:rPr sz="900" b="0" i="0">
                <a:solidFill>
                  <a:srgbClr val="E6007E"/>
                </a:solidFill>
                <a:latin typeface="Calibri"/>
              </a:rPr>
              <a:t>STEVE</a:t>
            </a:r>
          </a:p>
        </p:txBody>
      </p:sp>
      <p:sp>
        <p:nvSpPr>
          <p:cNvPr id="38" name="TextBox 37"/>
          <p:cNvSpPr txBox="1"/>
          <p:nvPr/>
        </p:nvSpPr>
        <p:spPr>
          <a:xfrm>
            <a:off x="9326880" y="4828032"/>
            <a:ext cx="1920240" cy="594360"/>
          </a:xfrm>
          <a:prstGeom prst="rect">
            <a:avLst/>
          </a:prstGeom>
          <a:noFill/>
        </p:spPr>
        <p:txBody>
          <a:bodyPr wrap="square">
            <a:spAutoFit/>
          </a:bodyPr>
          <a:lstStyle/>
          <a:p>
            <a:pPr algn="l"/>
            <a:r>
              <a:rPr sz="900" b="0" i="0">
                <a:solidFill>
                  <a:srgbClr val="4A2F47"/>
                </a:solidFill>
                <a:latin typeface="Calibri"/>
              </a:rPr>
              <a:t>Monthly catch-up; comp, compliance, US payroll, board reporting alignment.</a:t>
            </a:r>
          </a:p>
        </p:txBody>
      </p:sp>
      <p:sp>
        <p:nvSpPr>
          <p:cNvPr id="39" name="TextBox 38"/>
          <p:cNvSpPr txBox="1"/>
          <p:nvPr/>
        </p:nvSpPr>
        <p:spPr>
          <a:xfrm>
            <a:off x="9326880" y="5669280"/>
            <a:ext cx="1920240" cy="640080"/>
          </a:xfrm>
          <a:prstGeom prst="rect">
            <a:avLst/>
          </a:prstGeom>
          <a:noFill/>
        </p:spPr>
        <p:txBody>
          <a:bodyPr wrap="square">
            <a:spAutoFit/>
          </a:bodyPr>
          <a:lstStyle/>
          <a:p>
            <a:pPr algn="l"/>
            <a:r>
              <a:rPr sz="900" b="0" i="0">
                <a:solidFill>
                  <a:srgbClr val="8A7585"/>
                </a:solidFill>
                <a:latin typeface="Calibri"/>
              </a:rPr>
              <a:t>My role is coaching, calibration, accountability — not policing. The Heads own their teams' performance.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12 · Diagnose, design, deploy</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First 90 days</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600" b="0" i="0">
                <a:solidFill>
                  <a:srgbClr val="1A0918"/>
                </a:solidFill>
                <a:latin typeface="Calibri"/>
              </a:rPr>
              <a:t>Diagnose. Design. Deploy.</a:t>
            </a:r>
          </a:p>
        </p:txBody>
      </p:sp>
      <p:sp>
        <p:nvSpPr>
          <p:cNvPr id="6" name="TextBox 5"/>
          <p:cNvSpPr txBox="1"/>
          <p:nvPr/>
        </p:nvSpPr>
        <p:spPr>
          <a:xfrm>
            <a:off x="822960" y="1828800"/>
            <a:ext cx="10515600" cy="411480"/>
          </a:xfrm>
          <a:prstGeom prst="rect">
            <a:avLst/>
          </a:prstGeom>
          <a:noFill/>
        </p:spPr>
        <p:txBody>
          <a:bodyPr wrap="square">
            <a:spAutoFit/>
          </a:bodyPr>
          <a:lstStyle/>
          <a:p>
            <a:pPr algn="l"/>
            <a:r>
              <a:rPr sz="1200" b="0" i="0">
                <a:solidFill>
                  <a:srgbClr val="4A2F47"/>
                </a:solidFill>
                <a:latin typeface="Calibri"/>
              </a:rPr>
              <a:t>Three phases, each one building the foundation for the next.</a:t>
            </a:r>
          </a:p>
        </p:txBody>
      </p:sp>
      <p:sp>
        <p:nvSpPr>
          <p:cNvPr id="7" name="Rectangle 6"/>
          <p:cNvSpPr/>
          <p:nvPr/>
        </p:nvSpPr>
        <p:spPr>
          <a:xfrm>
            <a:off x="822960" y="2331720"/>
            <a:ext cx="3474720" cy="39319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331720"/>
            <a:ext cx="347472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331720"/>
            <a:ext cx="1161288"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441448"/>
            <a:ext cx="3291840" cy="203200"/>
          </a:xfrm>
          <a:prstGeom prst="rect">
            <a:avLst/>
          </a:prstGeom>
          <a:noFill/>
        </p:spPr>
        <p:txBody>
          <a:bodyPr wrap="square">
            <a:spAutoFit/>
          </a:bodyPr>
          <a:lstStyle/>
          <a:p>
            <a:pPr algn="l"/>
            <a:r>
              <a:rPr sz="800" b="0" i="0">
                <a:solidFill>
                  <a:srgbClr val="E6007E"/>
                </a:solidFill>
                <a:latin typeface="Calibri"/>
              </a:rPr>
              <a:t>DAYS 1–30 · DIAGNOSE</a:t>
            </a:r>
          </a:p>
        </p:txBody>
      </p:sp>
      <p:sp>
        <p:nvSpPr>
          <p:cNvPr id="11" name="TextBox 10"/>
          <p:cNvSpPr txBox="1"/>
          <p:nvPr/>
        </p:nvSpPr>
        <p:spPr>
          <a:xfrm>
            <a:off x="960120" y="2670048"/>
            <a:ext cx="3291840" cy="279400"/>
          </a:xfrm>
          <a:prstGeom prst="rect">
            <a:avLst/>
          </a:prstGeom>
          <a:noFill/>
        </p:spPr>
        <p:txBody>
          <a:bodyPr wrap="square">
            <a:spAutoFit/>
          </a:bodyPr>
          <a:lstStyle/>
          <a:p>
            <a:pPr algn="l"/>
            <a:r>
              <a:rPr sz="1400" b="1" i="0">
                <a:solidFill>
                  <a:srgbClr val="1A0918"/>
                </a:solidFill>
                <a:latin typeface="Calibri"/>
              </a:rPr>
              <a:t>Baseline the truth.</a:t>
            </a:r>
          </a:p>
        </p:txBody>
      </p:sp>
      <p:sp>
        <p:nvSpPr>
          <p:cNvPr id="12" name="TextBox 11"/>
          <p:cNvSpPr txBox="1"/>
          <p:nvPr/>
        </p:nvSpPr>
        <p:spPr>
          <a:xfrm>
            <a:off x="960120" y="2999232"/>
            <a:ext cx="3246120" cy="457200"/>
          </a:xfrm>
          <a:prstGeom prst="rect">
            <a:avLst/>
          </a:prstGeom>
          <a:noFill/>
        </p:spPr>
        <p:txBody>
          <a:bodyPr wrap="square">
            <a:spAutoFit/>
          </a:bodyPr>
          <a:lstStyle/>
          <a:p>
            <a:pPr algn="l"/>
            <a:r>
              <a:rPr sz="1000" b="0" i="0">
                <a:solidFill>
                  <a:srgbClr val="4A2F47"/>
                </a:solidFill>
                <a:latin typeface="Calibri"/>
              </a:rPr>
              <a:t>▸  Listen first. Meet every person at every senior level. Spend time with Ricky, Will, Steve individually.</a:t>
            </a:r>
          </a:p>
        </p:txBody>
      </p:sp>
      <p:sp>
        <p:nvSpPr>
          <p:cNvPr id="13" name="TextBox 12"/>
          <p:cNvSpPr txBox="1"/>
          <p:nvPr/>
        </p:nvSpPr>
        <p:spPr>
          <a:xfrm>
            <a:off x="960120" y="3474720"/>
            <a:ext cx="3246120" cy="457200"/>
          </a:xfrm>
          <a:prstGeom prst="rect">
            <a:avLst/>
          </a:prstGeom>
          <a:noFill/>
        </p:spPr>
        <p:txBody>
          <a:bodyPr wrap="square">
            <a:spAutoFit/>
          </a:bodyPr>
          <a:lstStyle/>
          <a:p>
            <a:pPr algn="l"/>
            <a:r>
              <a:rPr sz="1000" b="0" i="0">
                <a:solidFill>
                  <a:srgbClr val="4A2F47"/>
                </a:solidFill>
                <a:latin typeface="Calibri"/>
              </a:rPr>
              <a:t>▸  Audit current state: policies, processes, tools, comp, performance, hiring, retention.</a:t>
            </a:r>
          </a:p>
        </p:txBody>
      </p:sp>
      <p:sp>
        <p:nvSpPr>
          <p:cNvPr id="14" name="TextBox 13"/>
          <p:cNvSpPr txBox="1"/>
          <p:nvPr/>
        </p:nvSpPr>
        <p:spPr>
          <a:xfrm>
            <a:off x="960120" y="3950208"/>
            <a:ext cx="3246120" cy="457200"/>
          </a:xfrm>
          <a:prstGeom prst="rect">
            <a:avLst/>
          </a:prstGeom>
          <a:noFill/>
        </p:spPr>
        <p:txBody>
          <a:bodyPr wrap="square">
            <a:spAutoFit/>
          </a:bodyPr>
          <a:lstStyle/>
          <a:p>
            <a:pPr algn="l"/>
            <a:r>
              <a:rPr sz="1000" b="0" i="0">
                <a:solidFill>
                  <a:srgbClr val="4A2F47"/>
                </a:solidFill>
                <a:latin typeface="Calibri"/>
              </a:rPr>
              <a:t>▸  Map senior team integration risks and opportunities.</a:t>
            </a:r>
          </a:p>
        </p:txBody>
      </p:sp>
      <p:sp>
        <p:nvSpPr>
          <p:cNvPr id="15" name="TextBox 14"/>
          <p:cNvSpPr txBox="1"/>
          <p:nvPr/>
        </p:nvSpPr>
        <p:spPr>
          <a:xfrm>
            <a:off x="960120" y="4425696"/>
            <a:ext cx="3246120" cy="457200"/>
          </a:xfrm>
          <a:prstGeom prst="rect">
            <a:avLst/>
          </a:prstGeom>
          <a:noFill/>
        </p:spPr>
        <p:txBody>
          <a:bodyPr wrap="square">
            <a:spAutoFit/>
          </a:bodyPr>
          <a:lstStyle/>
          <a:p>
            <a:pPr algn="l"/>
            <a:r>
              <a:rPr sz="1000" b="0" i="0">
                <a:solidFill>
                  <a:srgbClr val="4A2F47"/>
                </a:solidFill>
                <a:latin typeface="Calibri"/>
              </a:rPr>
              <a:t>▸  Share initial People strategy with leadership; co-create with founders.</a:t>
            </a:r>
          </a:p>
        </p:txBody>
      </p:sp>
      <p:sp>
        <p:nvSpPr>
          <p:cNvPr id="16" name="TextBox 15"/>
          <p:cNvSpPr txBox="1"/>
          <p:nvPr/>
        </p:nvSpPr>
        <p:spPr>
          <a:xfrm>
            <a:off x="960120" y="5669280"/>
            <a:ext cx="3291840" cy="475488"/>
          </a:xfrm>
          <a:prstGeom prst="rect">
            <a:avLst/>
          </a:prstGeom>
          <a:noFill/>
        </p:spPr>
        <p:txBody>
          <a:bodyPr wrap="square">
            <a:spAutoFit/>
          </a:bodyPr>
          <a:lstStyle/>
          <a:p>
            <a:pPr algn="l"/>
            <a:r>
              <a:rPr sz="1000" b="0" i="0">
                <a:solidFill>
                  <a:srgbClr val="1A0918"/>
                </a:solidFill>
                <a:latin typeface="Calibri"/>
              </a:rPr>
              <a:t>Founders have a clear picture of the People landscape. Senior team integration risks surfaced before they entrench.</a:t>
            </a:r>
          </a:p>
        </p:txBody>
      </p:sp>
      <p:sp>
        <p:nvSpPr>
          <p:cNvPr id="17" name="Rectangle 16"/>
          <p:cNvSpPr/>
          <p:nvPr/>
        </p:nvSpPr>
        <p:spPr>
          <a:xfrm>
            <a:off x="4434840" y="2331720"/>
            <a:ext cx="3474720" cy="39319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2331720"/>
            <a:ext cx="347472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34840" y="2331720"/>
            <a:ext cx="2313432"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2441448"/>
            <a:ext cx="3291840" cy="203200"/>
          </a:xfrm>
          <a:prstGeom prst="rect">
            <a:avLst/>
          </a:prstGeom>
          <a:noFill/>
        </p:spPr>
        <p:txBody>
          <a:bodyPr wrap="square">
            <a:spAutoFit/>
          </a:bodyPr>
          <a:lstStyle/>
          <a:p>
            <a:pPr algn="l"/>
            <a:r>
              <a:rPr sz="800" b="0" i="0">
                <a:solidFill>
                  <a:srgbClr val="E6007E"/>
                </a:solidFill>
                <a:latin typeface="Calibri"/>
              </a:rPr>
              <a:t>DAYS 31–90 · DESIGN</a:t>
            </a:r>
          </a:p>
        </p:txBody>
      </p:sp>
      <p:sp>
        <p:nvSpPr>
          <p:cNvPr id="21" name="TextBox 20"/>
          <p:cNvSpPr txBox="1"/>
          <p:nvPr/>
        </p:nvSpPr>
        <p:spPr>
          <a:xfrm>
            <a:off x="4572000" y="2670048"/>
            <a:ext cx="3291840" cy="279400"/>
          </a:xfrm>
          <a:prstGeom prst="rect">
            <a:avLst/>
          </a:prstGeom>
          <a:noFill/>
        </p:spPr>
        <p:txBody>
          <a:bodyPr wrap="square">
            <a:spAutoFit/>
          </a:bodyPr>
          <a:lstStyle/>
          <a:p>
            <a:pPr algn="l"/>
            <a:r>
              <a:rPr sz="1400" b="1" i="0">
                <a:solidFill>
                  <a:srgbClr val="1A0918"/>
                </a:solidFill>
                <a:latin typeface="Calibri"/>
              </a:rPr>
              <a:t>Define the operating system.</a:t>
            </a:r>
          </a:p>
        </p:txBody>
      </p:sp>
      <p:sp>
        <p:nvSpPr>
          <p:cNvPr id="22" name="TextBox 21"/>
          <p:cNvSpPr txBox="1"/>
          <p:nvPr/>
        </p:nvSpPr>
        <p:spPr>
          <a:xfrm>
            <a:off x="4572000" y="2999232"/>
            <a:ext cx="3246120" cy="457200"/>
          </a:xfrm>
          <a:prstGeom prst="rect">
            <a:avLst/>
          </a:prstGeom>
          <a:noFill/>
        </p:spPr>
        <p:txBody>
          <a:bodyPr wrap="square">
            <a:spAutoFit/>
          </a:bodyPr>
          <a:lstStyle/>
          <a:p>
            <a:pPr algn="l"/>
            <a:r>
              <a:rPr sz="1000" b="0" i="0">
                <a:solidFill>
                  <a:srgbClr val="4A2F47"/>
                </a:solidFill>
                <a:latin typeface="Calibri"/>
              </a:rPr>
              <a:t>▸  Impact Profiles for 50% of roles, starting with senior team.</a:t>
            </a:r>
          </a:p>
        </p:txBody>
      </p:sp>
      <p:sp>
        <p:nvSpPr>
          <p:cNvPr id="23" name="TextBox 22"/>
          <p:cNvSpPr txBox="1"/>
          <p:nvPr/>
        </p:nvSpPr>
        <p:spPr>
          <a:xfrm>
            <a:off x="4572000" y="3474720"/>
            <a:ext cx="3246120" cy="457200"/>
          </a:xfrm>
          <a:prstGeom prst="rect">
            <a:avLst/>
          </a:prstGeom>
          <a:noFill/>
        </p:spPr>
        <p:txBody>
          <a:bodyPr wrap="square">
            <a:spAutoFit/>
          </a:bodyPr>
          <a:lstStyle/>
          <a:p>
            <a:pPr algn="l"/>
            <a:r>
              <a:rPr sz="1000" b="0" i="0">
                <a:solidFill>
                  <a:srgbClr val="4A2F47"/>
                </a:solidFill>
                <a:latin typeface="Calibri"/>
              </a:rPr>
              <a:t>▸  Deploy first pulse engagement survey with AMO framing.</a:t>
            </a:r>
          </a:p>
        </p:txBody>
      </p:sp>
      <p:sp>
        <p:nvSpPr>
          <p:cNvPr id="24" name="TextBox 23"/>
          <p:cNvSpPr txBox="1"/>
          <p:nvPr/>
        </p:nvSpPr>
        <p:spPr>
          <a:xfrm>
            <a:off x="4572000" y="3950208"/>
            <a:ext cx="3246120" cy="457200"/>
          </a:xfrm>
          <a:prstGeom prst="rect">
            <a:avLst/>
          </a:prstGeom>
          <a:noFill/>
        </p:spPr>
        <p:txBody>
          <a:bodyPr wrap="square">
            <a:spAutoFit/>
          </a:bodyPr>
          <a:lstStyle/>
          <a:p>
            <a:pPr algn="l"/>
            <a:r>
              <a:rPr sz="1000" b="0" i="0">
                <a:solidFill>
                  <a:srgbClr val="4A2F47"/>
                </a:solidFill>
                <a:latin typeface="Calibri"/>
              </a:rPr>
              <a:t>▸  Launch performance system pilot with 2–3 functions.</a:t>
            </a:r>
          </a:p>
        </p:txBody>
      </p:sp>
      <p:sp>
        <p:nvSpPr>
          <p:cNvPr id="25" name="TextBox 24"/>
          <p:cNvSpPr txBox="1"/>
          <p:nvPr/>
        </p:nvSpPr>
        <p:spPr>
          <a:xfrm>
            <a:off x="4572000" y="4425696"/>
            <a:ext cx="3246120" cy="457200"/>
          </a:xfrm>
          <a:prstGeom prst="rect">
            <a:avLst/>
          </a:prstGeom>
          <a:noFill/>
        </p:spPr>
        <p:txBody>
          <a:bodyPr wrap="square">
            <a:spAutoFit/>
          </a:bodyPr>
          <a:lstStyle/>
          <a:p>
            <a:pPr algn="l"/>
            <a:r>
              <a:rPr sz="1000" b="0" i="0">
                <a:solidFill>
                  <a:srgbClr val="4A2F47"/>
                </a:solidFill>
                <a:latin typeface="Calibri"/>
              </a:rPr>
              <a:t>▸  Implement HR infrastructure: ATS, single source of truth, dashboards.</a:t>
            </a:r>
          </a:p>
        </p:txBody>
      </p:sp>
      <p:sp>
        <p:nvSpPr>
          <p:cNvPr id="26" name="TextBox 25"/>
          <p:cNvSpPr txBox="1"/>
          <p:nvPr/>
        </p:nvSpPr>
        <p:spPr>
          <a:xfrm>
            <a:off x="4572000" y="4901184"/>
            <a:ext cx="3246120" cy="457200"/>
          </a:xfrm>
          <a:prstGeom prst="rect">
            <a:avLst/>
          </a:prstGeom>
          <a:noFill/>
        </p:spPr>
        <p:txBody>
          <a:bodyPr wrap="square">
            <a:spAutoFit/>
          </a:bodyPr>
          <a:lstStyle/>
          <a:p>
            <a:pPr algn="l"/>
            <a:r>
              <a:rPr sz="1000" b="0" i="0">
                <a:solidFill>
                  <a:srgbClr val="4A2F47"/>
                </a:solidFill>
                <a:latin typeface="Calibri"/>
              </a:rPr>
              <a:t>▸  Comp framework v1 drafted with founders. Second seat hired and onboarded.</a:t>
            </a:r>
          </a:p>
        </p:txBody>
      </p:sp>
      <p:sp>
        <p:nvSpPr>
          <p:cNvPr id="27" name="TextBox 26"/>
          <p:cNvSpPr txBox="1"/>
          <p:nvPr/>
        </p:nvSpPr>
        <p:spPr>
          <a:xfrm>
            <a:off x="4572000" y="5669280"/>
            <a:ext cx="3291840" cy="475488"/>
          </a:xfrm>
          <a:prstGeom prst="rect">
            <a:avLst/>
          </a:prstGeom>
          <a:noFill/>
        </p:spPr>
        <p:txBody>
          <a:bodyPr wrap="square">
            <a:spAutoFit/>
          </a:bodyPr>
          <a:lstStyle/>
          <a:p>
            <a:pPr algn="l"/>
            <a:r>
              <a:rPr sz="1000" b="0" i="0">
                <a:solidFill>
                  <a:srgbClr val="1A0918"/>
                </a:solidFill>
                <a:latin typeface="Calibri"/>
              </a:rPr>
              <a:t>The system has visible early wins. Leadership trusts the cadence. People processes start moving off the founders' plates.</a:t>
            </a:r>
          </a:p>
        </p:txBody>
      </p:sp>
      <p:sp>
        <p:nvSpPr>
          <p:cNvPr id="28" name="Rectangle 27"/>
          <p:cNvSpPr/>
          <p:nvPr/>
        </p:nvSpPr>
        <p:spPr>
          <a:xfrm>
            <a:off x="8046720" y="2331720"/>
            <a:ext cx="3474720" cy="393192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2331720"/>
            <a:ext cx="3474720" cy="40000"/>
          </a:xfrm>
          <a:prstGeom prst="rect">
            <a:avLst/>
          </a:prstGeom>
          <a:solidFill>
            <a:srgbClr val="E0D5C8"/>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20" y="2331720"/>
            <a:ext cx="3474720" cy="40000"/>
          </a:xfrm>
          <a:prstGeom prst="rect">
            <a:avLst/>
          </a:prstGeom>
          <a:solidFill>
            <a:srgbClr val="E6007E"/>
          </a:solidFill>
          <a:ln w="6350">
            <a:solidFill>
              <a:srgbClr val="E60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2441448"/>
            <a:ext cx="3291840" cy="203200"/>
          </a:xfrm>
          <a:prstGeom prst="rect">
            <a:avLst/>
          </a:prstGeom>
          <a:noFill/>
        </p:spPr>
        <p:txBody>
          <a:bodyPr wrap="square">
            <a:spAutoFit/>
          </a:bodyPr>
          <a:lstStyle/>
          <a:p>
            <a:pPr algn="l"/>
            <a:r>
              <a:rPr sz="800" b="0" i="0">
                <a:solidFill>
                  <a:srgbClr val="E6007E"/>
                </a:solidFill>
                <a:latin typeface="Calibri"/>
              </a:rPr>
              <a:t>MONTH 4–6 · DEPLOY</a:t>
            </a:r>
          </a:p>
        </p:txBody>
      </p:sp>
      <p:sp>
        <p:nvSpPr>
          <p:cNvPr id="32" name="TextBox 31"/>
          <p:cNvSpPr txBox="1"/>
          <p:nvPr/>
        </p:nvSpPr>
        <p:spPr>
          <a:xfrm>
            <a:off x="8183880" y="2670048"/>
            <a:ext cx="3291840" cy="279400"/>
          </a:xfrm>
          <a:prstGeom prst="rect">
            <a:avLst/>
          </a:prstGeom>
          <a:noFill/>
        </p:spPr>
        <p:txBody>
          <a:bodyPr wrap="square">
            <a:spAutoFit/>
          </a:bodyPr>
          <a:lstStyle/>
          <a:p>
            <a:pPr algn="l"/>
            <a:r>
              <a:rPr sz="1400" b="1" i="0">
                <a:solidFill>
                  <a:srgbClr val="1A0918"/>
                </a:solidFill>
                <a:latin typeface="Calibri"/>
              </a:rPr>
              <a:t>Ship the full system.</a:t>
            </a:r>
          </a:p>
        </p:txBody>
      </p:sp>
      <p:sp>
        <p:nvSpPr>
          <p:cNvPr id="33" name="TextBox 32"/>
          <p:cNvSpPr txBox="1"/>
          <p:nvPr/>
        </p:nvSpPr>
        <p:spPr>
          <a:xfrm>
            <a:off x="8183880" y="2999232"/>
            <a:ext cx="3246120" cy="457200"/>
          </a:xfrm>
          <a:prstGeom prst="rect">
            <a:avLst/>
          </a:prstGeom>
          <a:noFill/>
        </p:spPr>
        <p:txBody>
          <a:bodyPr wrap="square">
            <a:spAutoFit/>
          </a:bodyPr>
          <a:lstStyle/>
          <a:p>
            <a:pPr algn="l"/>
            <a:r>
              <a:rPr sz="1000" b="0" i="0">
                <a:solidFill>
                  <a:srgbClr val="4A2F47"/>
                </a:solidFill>
                <a:latin typeface="Calibri"/>
              </a:rPr>
              <a:t>▸  Impact Profiles complete for 100% of roles.</a:t>
            </a:r>
          </a:p>
        </p:txBody>
      </p:sp>
      <p:sp>
        <p:nvSpPr>
          <p:cNvPr id="34" name="TextBox 33"/>
          <p:cNvSpPr txBox="1"/>
          <p:nvPr/>
        </p:nvSpPr>
        <p:spPr>
          <a:xfrm>
            <a:off x="8183880" y="3474720"/>
            <a:ext cx="3246120" cy="457200"/>
          </a:xfrm>
          <a:prstGeom prst="rect">
            <a:avLst/>
          </a:prstGeom>
          <a:noFill/>
        </p:spPr>
        <p:txBody>
          <a:bodyPr wrap="square">
            <a:spAutoFit/>
          </a:bodyPr>
          <a:lstStyle/>
          <a:p>
            <a:pPr algn="l"/>
            <a:r>
              <a:rPr sz="1000" b="0" i="0">
                <a:solidFill>
                  <a:srgbClr val="4A2F47"/>
                </a:solidFill>
                <a:latin typeface="Calibri"/>
              </a:rPr>
              <a:t>▸  Full performance cycle launched with upward manager feedback.</a:t>
            </a:r>
          </a:p>
        </p:txBody>
      </p:sp>
      <p:sp>
        <p:nvSpPr>
          <p:cNvPr id="35" name="TextBox 34"/>
          <p:cNvSpPr txBox="1"/>
          <p:nvPr/>
        </p:nvSpPr>
        <p:spPr>
          <a:xfrm>
            <a:off x="8183880" y="3950208"/>
            <a:ext cx="3246120" cy="457200"/>
          </a:xfrm>
          <a:prstGeom prst="rect">
            <a:avLst/>
          </a:prstGeom>
          <a:noFill/>
        </p:spPr>
        <p:txBody>
          <a:bodyPr wrap="square">
            <a:spAutoFit/>
          </a:bodyPr>
          <a:lstStyle/>
          <a:p>
            <a:pPr algn="l"/>
            <a:r>
              <a:rPr sz="1000" b="0" i="0">
                <a:solidFill>
                  <a:srgbClr val="4A2F47"/>
                </a:solidFill>
                <a:latin typeface="Calibri"/>
              </a:rPr>
              <a:t>▸  Comp framework v1 deployed. Progression framework v1 in place.</a:t>
            </a:r>
          </a:p>
        </p:txBody>
      </p:sp>
      <p:sp>
        <p:nvSpPr>
          <p:cNvPr id="36" name="TextBox 35"/>
          <p:cNvSpPr txBox="1"/>
          <p:nvPr/>
        </p:nvSpPr>
        <p:spPr>
          <a:xfrm>
            <a:off x="8183880" y="4425696"/>
            <a:ext cx="3246120" cy="457200"/>
          </a:xfrm>
          <a:prstGeom prst="rect">
            <a:avLst/>
          </a:prstGeom>
          <a:noFill/>
        </p:spPr>
        <p:txBody>
          <a:bodyPr wrap="square">
            <a:spAutoFit/>
          </a:bodyPr>
          <a:lstStyle/>
          <a:p>
            <a:pPr algn="l"/>
            <a:r>
              <a:rPr sz="1000" b="0" i="0">
                <a:solidFill>
                  <a:srgbClr val="4A2F47"/>
                </a:solidFill>
                <a:latin typeface="Calibri"/>
              </a:rPr>
              <a:t>▸  Hiring system running with AI tooling; time to hire reduced.</a:t>
            </a:r>
          </a:p>
        </p:txBody>
      </p:sp>
      <p:sp>
        <p:nvSpPr>
          <p:cNvPr id="37" name="TextBox 36"/>
          <p:cNvSpPr txBox="1"/>
          <p:nvPr/>
        </p:nvSpPr>
        <p:spPr>
          <a:xfrm>
            <a:off x="8183880" y="4901184"/>
            <a:ext cx="3246120" cy="457200"/>
          </a:xfrm>
          <a:prstGeom prst="rect">
            <a:avLst/>
          </a:prstGeom>
          <a:noFill/>
        </p:spPr>
        <p:txBody>
          <a:bodyPr wrap="square">
            <a:spAutoFit/>
          </a:bodyPr>
          <a:lstStyle/>
          <a:p>
            <a:pPr algn="l"/>
            <a:r>
              <a:rPr sz="1000" b="0" i="0">
                <a:solidFill>
                  <a:srgbClr val="4A2F47"/>
                </a:solidFill>
                <a:latin typeface="Calibri"/>
              </a:rPr>
              <a:t>▸  People dashboard live to leadership team.</a:t>
            </a:r>
          </a:p>
        </p:txBody>
      </p:sp>
      <p:sp>
        <p:nvSpPr>
          <p:cNvPr id="38" name="TextBox 37"/>
          <p:cNvSpPr txBox="1"/>
          <p:nvPr/>
        </p:nvSpPr>
        <p:spPr>
          <a:xfrm>
            <a:off x="8183880" y="5669280"/>
            <a:ext cx="3291840" cy="475488"/>
          </a:xfrm>
          <a:prstGeom prst="rect">
            <a:avLst/>
          </a:prstGeom>
          <a:noFill/>
        </p:spPr>
        <p:txBody>
          <a:bodyPr wrap="square">
            <a:spAutoFit/>
          </a:bodyPr>
          <a:lstStyle/>
          <a:p>
            <a:pPr algn="l"/>
            <a:r>
              <a:rPr sz="1000" b="0" i="0">
                <a:solidFill>
                  <a:srgbClr val="1A0918"/>
                </a:solidFill>
                <a:latin typeface="Calibri"/>
              </a:rPr>
              <a:t>Performance is the spine. The system carries the standard. Trybe is operating with the foundation it needs.</a:t>
            </a:r>
          </a:p>
        </p:txBody>
      </p:sp>
      <p:sp>
        <p:nvSpPr>
          <p:cNvPr id="39" name="Rectangle 38"/>
          <p:cNvSpPr/>
          <p:nvPr/>
        </p:nvSpPr>
        <p:spPr>
          <a:xfrm>
            <a:off x="822960" y="6400800"/>
            <a:ext cx="10515600" cy="256032"/>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6446520"/>
            <a:ext cx="9601200" cy="254000"/>
          </a:xfrm>
          <a:prstGeom prst="rect">
            <a:avLst/>
          </a:prstGeom>
          <a:noFill/>
        </p:spPr>
        <p:txBody>
          <a:bodyPr wrap="square">
            <a:spAutoFit/>
          </a:bodyPr>
          <a:lstStyle/>
          <a:p>
            <a:pPr algn="l"/>
            <a:r>
              <a:rPr sz="1200" b="0" i="0">
                <a:solidFill>
                  <a:srgbClr val="1A0918"/>
                </a:solidFill>
                <a:latin typeface="Calibri"/>
              </a:rPr>
              <a:t>▶  By month 6, the People function is no longer a hiring decision Trybe made. It is an operating advantage Trybe has.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4F0"/>
        </a:solidFill>
        <a:effectLst/>
      </p:bgPr>
    </p:bg>
    <p:spTree>
      <p:nvGrpSpPr>
        <p:cNvPr id="1" name=""/>
        <p:cNvGrpSpPr/>
        <p:nvPr/>
      </p:nvGrpSpPr>
      <p:grpSpPr/>
      <p:sp>
        <p:nvSpPr>
          <p:cNvPr id="2" name="TextBox 1"/>
          <p:cNvSpPr txBox="1"/>
          <p:nvPr/>
        </p:nvSpPr>
        <p:spPr>
          <a:xfrm>
            <a:off x="640080" y="411480"/>
            <a:ext cx="2743200" cy="228600"/>
          </a:xfrm>
          <a:prstGeom prst="rect">
            <a:avLst/>
          </a:prstGeom>
          <a:noFill/>
        </p:spPr>
        <p:txBody>
          <a:bodyPr wrap="square">
            <a:spAutoFit/>
          </a:bodyPr>
          <a:lstStyle/>
          <a:p>
            <a:pPr algn="l"/>
            <a:r>
              <a:rPr sz="800" b="1" i="0">
                <a:solidFill>
                  <a:srgbClr val="1A0918"/>
                </a:solidFill>
                <a:latin typeface="Calibri"/>
              </a:rPr>
              <a:t>▶  TRYBE</a:t>
            </a:r>
          </a:p>
        </p:txBody>
      </p:sp>
      <p:sp>
        <p:nvSpPr>
          <p:cNvPr id="3" name="TextBox 2"/>
          <p:cNvSpPr txBox="1"/>
          <p:nvPr/>
        </p:nvSpPr>
        <p:spPr>
          <a:xfrm>
            <a:off x="7315200" y="411480"/>
            <a:ext cx="4572000" cy="228600"/>
          </a:xfrm>
          <a:prstGeom prst="rect">
            <a:avLst/>
          </a:prstGeom>
          <a:noFill/>
        </p:spPr>
        <p:txBody>
          <a:bodyPr wrap="square">
            <a:spAutoFit/>
          </a:bodyPr>
          <a:lstStyle/>
          <a:p>
            <a:pPr algn="r"/>
            <a:r>
              <a:rPr sz="800" b="0" i="0">
                <a:solidFill>
                  <a:srgbClr val="8A7585"/>
                </a:solidFill>
                <a:latin typeface="Calibri"/>
              </a:rPr>
              <a:t>13 · The close</a:t>
            </a:r>
          </a:p>
        </p:txBody>
      </p:sp>
      <p:sp>
        <p:nvSpPr>
          <p:cNvPr id="4" name="TextBox 3"/>
          <p:cNvSpPr txBox="1"/>
          <p:nvPr/>
        </p:nvSpPr>
        <p:spPr>
          <a:xfrm>
            <a:off x="822960" y="777240"/>
            <a:ext cx="9144000" cy="254000"/>
          </a:xfrm>
          <a:prstGeom prst="rect">
            <a:avLst/>
          </a:prstGeom>
          <a:noFill/>
        </p:spPr>
        <p:txBody>
          <a:bodyPr wrap="square">
            <a:spAutoFit/>
          </a:bodyPr>
          <a:lstStyle/>
          <a:p>
            <a:pPr algn="l"/>
            <a:r>
              <a:rPr sz="900" b="0" i="0">
                <a:solidFill>
                  <a:srgbClr val="E6007E"/>
                </a:solidFill>
                <a:latin typeface="Calibri"/>
              </a:rPr>
              <a:t>Why me</a:t>
            </a:r>
          </a:p>
        </p:txBody>
      </p:sp>
      <p:sp>
        <p:nvSpPr>
          <p:cNvPr id="5" name="TextBox 4"/>
          <p:cNvSpPr txBox="1"/>
          <p:nvPr/>
        </p:nvSpPr>
        <p:spPr>
          <a:xfrm>
            <a:off x="822960" y="1097280"/>
            <a:ext cx="10515600" cy="731520"/>
          </a:xfrm>
          <a:prstGeom prst="rect">
            <a:avLst/>
          </a:prstGeom>
          <a:noFill/>
        </p:spPr>
        <p:txBody>
          <a:bodyPr wrap="square">
            <a:spAutoFit/>
          </a:bodyPr>
          <a:lstStyle/>
          <a:p>
            <a:pPr algn="l"/>
            <a:r>
              <a:rPr sz="3400" b="0" i="0">
                <a:solidFill>
                  <a:srgbClr val="1A0918"/>
                </a:solidFill>
                <a:latin typeface="Calibri"/>
              </a:rPr>
              <a:t>Three reasons, in commercial terms.</a:t>
            </a:r>
          </a:p>
        </p:txBody>
      </p:sp>
      <p:sp>
        <p:nvSpPr>
          <p:cNvPr id="6" name="TextBox 5"/>
          <p:cNvSpPr txBox="1"/>
          <p:nvPr/>
        </p:nvSpPr>
        <p:spPr>
          <a:xfrm>
            <a:off x="822960" y="1828800"/>
            <a:ext cx="10515600" cy="457200"/>
          </a:xfrm>
          <a:prstGeom prst="rect">
            <a:avLst/>
          </a:prstGeom>
          <a:noFill/>
        </p:spPr>
        <p:txBody>
          <a:bodyPr wrap="square">
            <a:spAutoFit/>
          </a:bodyPr>
          <a:lstStyle/>
          <a:p>
            <a:pPr algn="l"/>
            <a:r>
              <a:rPr sz="1300" b="0" i="0">
                <a:solidFill>
                  <a:srgbClr val="4A2F47"/>
                </a:solidFill>
                <a:latin typeface="Calibri"/>
              </a:rPr>
              <a:t>The 50th percentile pay philosophy is a test. The work I'm pitching to is built to pass it.</a:t>
            </a:r>
          </a:p>
        </p:txBody>
      </p:sp>
      <p:sp>
        <p:nvSpPr>
          <p:cNvPr id="7" name="Rectangle 6"/>
          <p:cNvSpPr/>
          <p:nvPr/>
        </p:nvSpPr>
        <p:spPr>
          <a:xfrm>
            <a:off x="822960" y="2377440"/>
            <a:ext cx="3456432" cy="28346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87168"/>
            <a:ext cx="3273552" cy="203200"/>
          </a:xfrm>
          <a:prstGeom prst="rect">
            <a:avLst/>
          </a:prstGeom>
          <a:noFill/>
        </p:spPr>
        <p:txBody>
          <a:bodyPr wrap="square">
            <a:spAutoFit/>
          </a:bodyPr>
          <a:lstStyle/>
          <a:p>
            <a:pPr algn="l"/>
            <a:r>
              <a:rPr sz="800" b="0" i="0">
                <a:solidFill>
                  <a:srgbClr val="E6007E"/>
                </a:solidFill>
                <a:latin typeface="Calibri"/>
              </a:rPr>
              <a:t>01 · Track record</a:t>
            </a:r>
          </a:p>
        </p:txBody>
      </p:sp>
      <p:sp>
        <p:nvSpPr>
          <p:cNvPr id="9" name="TextBox 8"/>
          <p:cNvSpPr txBox="1"/>
          <p:nvPr/>
        </p:nvSpPr>
        <p:spPr>
          <a:xfrm>
            <a:off x="960120" y="2697480"/>
            <a:ext cx="3273552" cy="279400"/>
          </a:xfrm>
          <a:prstGeom prst="rect">
            <a:avLst/>
          </a:prstGeom>
          <a:noFill/>
        </p:spPr>
        <p:txBody>
          <a:bodyPr wrap="square">
            <a:spAutoFit/>
          </a:bodyPr>
          <a:lstStyle/>
          <a:p>
            <a:pPr algn="l"/>
            <a:r>
              <a:rPr sz="1300" b="1" i="0">
                <a:solidFill>
                  <a:srgbClr val="1A0918"/>
                </a:solidFill>
                <a:latin typeface="Calibri"/>
              </a:rPr>
              <a:t>I've done this exact shape of work before.</a:t>
            </a:r>
          </a:p>
        </p:txBody>
      </p:sp>
      <p:sp>
        <p:nvSpPr>
          <p:cNvPr id="10" name="TextBox 9"/>
          <p:cNvSpPr txBox="1"/>
          <p:nvPr/>
        </p:nvSpPr>
        <p:spPr>
          <a:xfrm>
            <a:off x="960120" y="3090672"/>
            <a:ext cx="3273552" cy="1828800"/>
          </a:xfrm>
          <a:prstGeom prst="rect">
            <a:avLst/>
          </a:prstGeom>
          <a:noFill/>
        </p:spPr>
        <p:txBody>
          <a:bodyPr wrap="square">
            <a:spAutoFit/>
          </a:bodyPr>
          <a:lstStyle/>
          <a:p>
            <a:pPr algn="l"/>
            <a:r>
              <a:rPr sz="1000" b="0" i="0">
                <a:solidFill>
                  <a:srgbClr val="4A2F47"/>
                </a:solidFill>
                <a:latin typeface="Calibri"/>
              </a:rPr>
              <a:t>CPO at Kyra at ~60 people. The same problem Trybe has now: scattered managers, founders carrying the standard, no system to scale it. I redesigned the performance system from v1 (95%+ 'meeting expectations' with sub-60% OKR attainment) to v2 (impact factor model with role-specific commercial metrics). That's the spine of how I'd build at Trybe.</a:t>
            </a:r>
          </a:p>
        </p:txBody>
      </p:sp>
      <p:sp>
        <p:nvSpPr>
          <p:cNvPr id="11" name="Rectangle 10"/>
          <p:cNvSpPr/>
          <p:nvPr/>
        </p:nvSpPr>
        <p:spPr>
          <a:xfrm>
            <a:off x="4443984" y="2377440"/>
            <a:ext cx="3456432" cy="28346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2487168"/>
            <a:ext cx="3273552" cy="203200"/>
          </a:xfrm>
          <a:prstGeom prst="rect">
            <a:avLst/>
          </a:prstGeom>
          <a:noFill/>
        </p:spPr>
        <p:txBody>
          <a:bodyPr wrap="square">
            <a:spAutoFit/>
          </a:bodyPr>
          <a:lstStyle/>
          <a:p>
            <a:pPr algn="l"/>
            <a:r>
              <a:rPr sz="800" b="0" i="0">
                <a:solidFill>
                  <a:srgbClr val="E6007E"/>
                </a:solidFill>
                <a:latin typeface="Calibri"/>
              </a:rPr>
              <a:t>02 · AI tooling</a:t>
            </a:r>
          </a:p>
        </p:txBody>
      </p:sp>
      <p:sp>
        <p:nvSpPr>
          <p:cNvPr id="13" name="TextBox 12"/>
          <p:cNvSpPr txBox="1"/>
          <p:nvPr/>
        </p:nvSpPr>
        <p:spPr>
          <a:xfrm>
            <a:off x="4581144" y="2697480"/>
            <a:ext cx="3273552" cy="279400"/>
          </a:xfrm>
          <a:prstGeom prst="rect">
            <a:avLst/>
          </a:prstGeom>
          <a:noFill/>
        </p:spPr>
        <p:txBody>
          <a:bodyPr wrap="square">
            <a:spAutoFit/>
          </a:bodyPr>
          <a:lstStyle/>
          <a:p>
            <a:pPr algn="l"/>
            <a:r>
              <a:rPr sz="1300" b="1" i="0">
                <a:solidFill>
                  <a:srgbClr val="1A0918"/>
                </a:solidFill>
                <a:latin typeface="Calibri"/>
              </a:rPr>
              <a:t>I've built the stack already.</a:t>
            </a:r>
          </a:p>
        </p:txBody>
      </p:sp>
      <p:sp>
        <p:nvSpPr>
          <p:cNvPr id="14" name="TextBox 13"/>
          <p:cNvSpPr txBox="1"/>
          <p:nvPr/>
        </p:nvSpPr>
        <p:spPr>
          <a:xfrm>
            <a:off x="4581144" y="3090672"/>
            <a:ext cx="3273552" cy="1828800"/>
          </a:xfrm>
          <a:prstGeom prst="rect">
            <a:avLst/>
          </a:prstGeom>
          <a:noFill/>
        </p:spPr>
        <p:txBody>
          <a:bodyPr wrap="square">
            <a:spAutoFit/>
          </a:bodyPr>
          <a:lstStyle/>
          <a:p>
            <a:pPr algn="l"/>
            <a:r>
              <a:rPr sz="1000" b="0" i="0">
                <a:solidFill>
                  <a:srgbClr val="4A2F47"/>
                </a:solidFill>
                <a:latin typeface="Calibri"/>
              </a:rPr>
              <a:t>Not pitching a stack I'd commission. Pitching a stack I've shipped. PDL sourcing agent, interview transcript scoring, JD Architect, comp benchmarker, 1:1 insight extractor. Trybe inherits a working AI-native People operating model from day one, not a roadmap. Happy to demo any of them live in this conversation.</a:t>
            </a:r>
          </a:p>
        </p:txBody>
      </p:sp>
      <p:sp>
        <p:nvSpPr>
          <p:cNvPr id="15" name="Rectangle 14"/>
          <p:cNvSpPr/>
          <p:nvPr/>
        </p:nvSpPr>
        <p:spPr>
          <a:xfrm>
            <a:off x="8065008" y="2377440"/>
            <a:ext cx="3456432" cy="283464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2168" y="2487168"/>
            <a:ext cx="3273552" cy="203200"/>
          </a:xfrm>
          <a:prstGeom prst="rect">
            <a:avLst/>
          </a:prstGeom>
          <a:noFill/>
        </p:spPr>
        <p:txBody>
          <a:bodyPr wrap="square">
            <a:spAutoFit/>
          </a:bodyPr>
          <a:lstStyle/>
          <a:p>
            <a:pPr algn="l"/>
            <a:r>
              <a:rPr sz="800" b="0" i="0">
                <a:solidFill>
                  <a:srgbClr val="E6007E"/>
                </a:solidFill>
                <a:latin typeface="Calibri"/>
              </a:rPr>
              <a:t>03 · Commercial lens</a:t>
            </a:r>
          </a:p>
        </p:txBody>
      </p:sp>
      <p:sp>
        <p:nvSpPr>
          <p:cNvPr id="17" name="TextBox 16"/>
          <p:cNvSpPr txBox="1"/>
          <p:nvPr/>
        </p:nvSpPr>
        <p:spPr>
          <a:xfrm>
            <a:off x="8202168" y="2697480"/>
            <a:ext cx="3273552" cy="279400"/>
          </a:xfrm>
          <a:prstGeom prst="rect">
            <a:avLst/>
          </a:prstGeom>
          <a:noFill/>
        </p:spPr>
        <p:txBody>
          <a:bodyPr wrap="square">
            <a:spAutoFit/>
          </a:bodyPr>
          <a:lstStyle/>
          <a:p>
            <a:pPr algn="l"/>
            <a:r>
              <a:rPr sz="1300" b="1" i="0">
                <a:solidFill>
                  <a:srgbClr val="1A0918"/>
                </a:solidFill>
                <a:latin typeface="Calibri"/>
              </a:rPr>
              <a:t>I think commercially because I've been a commercial operator.</a:t>
            </a:r>
          </a:p>
        </p:txBody>
      </p:sp>
      <p:sp>
        <p:nvSpPr>
          <p:cNvPr id="18" name="TextBox 17"/>
          <p:cNvSpPr txBox="1"/>
          <p:nvPr/>
        </p:nvSpPr>
        <p:spPr>
          <a:xfrm>
            <a:off x="8202168" y="3090672"/>
            <a:ext cx="3273552" cy="1828800"/>
          </a:xfrm>
          <a:prstGeom prst="rect">
            <a:avLst/>
          </a:prstGeom>
          <a:noFill/>
        </p:spPr>
        <p:txBody>
          <a:bodyPr wrap="square">
            <a:spAutoFit/>
          </a:bodyPr>
          <a:lstStyle/>
          <a:p>
            <a:pPr algn="l"/>
            <a:r>
              <a:rPr sz="1000" b="0" i="0">
                <a:solidFill>
                  <a:srgbClr val="4A2F47"/>
                </a:solidFill>
                <a:latin typeface="Calibri"/>
              </a:rPr>
              <a:t>CPO at Kyra. Multi-entity experience at Lionbridge and VoxSmart. I've sat in board meetings, owned numbers, defended growth plans. The People function I'd build at Trybe is designed to deliver the Five Elms thesis — not to win HR awards.</a:t>
            </a:r>
          </a:p>
        </p:txBody>
      </p:sp>
      <p:sp>
        <p:nvSpPr>
          <p:cNvPr id="19" name="Rectangle 18"/>
          <p:cNvSpPr/>
          <p:nvPr/>
        </p:nvSpPr>
        <p:spPr>
          <a:xfrm>
            <a:off x="822960" y="5394960"/>
            <a:ext cx="10515600" cy="1097280"/>
          </a:xfrm>
          <a:prstGeom prst="rect">
            <a:avLst/>
          </a:prstGeom>
          <a:solidFill>
            <a:srgbClr val="FFFFFF"/>
          </a:solidFill>
          <a:ln w="6350">
            <a:solidFill>
              <a:srgbClr val="E0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486400"/>
            <a:ext cx="2514600" cy="203200"/>
          </a:xfrm>
          <a:prstGeom prst="rect">
            <a:avLst/>
          </a:prstGeom>
          <a:noFill/>
        </p:spPr>
        <p:txBody>
          <a:bodyPr wrap="square">
            <a:spAutoFit/>
          </a:bodyPr>
          <a:lstStyle/>
          <a:p>
            <a:pPr algn="l"/>
            <a:r>
              <a:rPr sz="800" b="0" i="0">
                <a:solidFill>
                  <a:srgbClr val="E6007E"/>
                </a:solidFill>
                <a:latin typeface="Calibri"/>
              </a:rPr>
              <a:t>AI-NATIVE</a:t>
            </a:r>
          </a:p>
        </p:txBody>
      </p:sp>
      <p:sp>
        <p:nvSpPr>
          <p:cNvPr id="21" name="TextBox 20"/>
          <p:cNvSpPr txBox="1"/>
          <p:nvPr/>
        </p:nvSpPr>
        <p:spPr>
          <a:xfrm>
            <a:off x="914400" y="5669280"/>
            <a:ext cx="2514600" cy="685800"/>
          </a:xfrm>
          <a:prstGeom prst="rect">
            <a:avLst/>
          </a:prstGeom>
          <a:noFill/>
        </p:spPr>
        <p:txBody>
          <a:bodyPr wrap="square">
            <a:spAutoFit/>
          </a:bodyPr>
          <a:lstStyle/>
          <a:p>
            <a:pPr algn="l"/>
            <a:r>
              <a:rPr sz="1000" b="0" i="0">
                <a:solidFill>
                  <a:srgbClr val="4A2F47"/>
                </a:solidFill>
                <a:latin typeface="Calibri"/>
              </a:rPr>
              <a:t>The JD asked for someone who can scale automation. I've built the tools — not planned them.</a:t>
            </a:r>
          </a:p>
        </p:txBody>
      </p:sp>
      <p:sp>
        <p:nvSpPr>
          <p:cNvPr id="22" name="TextBox 21"/>
          <p:cNvSpPr txBox="1"/>
          <p:nvPr/>
        </p:nvSpPr>
        <p:spPr>
          <a:xfrm>
            <a:off x="3566160" y="5486400"/>
            <a:ext cx="2514600" cy="203200"/>
          </a:xfrm>
          <a:prstGeom prst="rect">
            <a:avLst/>
          </a:prstGeom>
          <a:noFill/>
        </p:spPr>
        <p:txBody>
          <a:bodyPr wrap="square">
            <a:spAutoFit/>
          </a:bodyPr>
          <a:lstStyle/>
          <a:p>
            <a:pPr algn="l"/>
            <a:r>
              <a:rPr sz="800" b="0" i="0">
                <a:solidFill>
                  <a:srgbClr val="E6007E"/>
                </a:solidFill>
                <a:latin typeface="Calibri"/>
              </a:rPr>
              <a:t>HANDS-ON</a:t>
            </a:r>
          </a:p>
        </p:txBody>
      </p:sp>
      <p:sp>
        <p:nvSpPr>
          <p:cNvPr id="23" name="TextBox 22"/>
          <p:cNvSpPr txBox="1"/>
          <p:nvPr/>
        </p:nvSpPr>
        <p:spPr>
          <a:xfrm>
            <a:off x="3566160" y="5669280"/>
            <a:ext cx="2514600" cy="685800"/>
          </a:xfrm>
          <a:prstGeom prst="rect">
            <a:avLst/>
          </a:prstGeom>
          <a:noFill/>
        </p:spPr>
        <p:txBody>
          <a:bodyPr wrap="square">
            <a:spAutoFit/>
          </a:bodyPr>
          <a:lstStyle/>
          <a:p>
            <a:pPr algn="l"/>
            <a:r>
              <a:rPr sz="1000" b="0" i="0">
                <a:solidFill>
                  <a:srgbClr val="4A2F47"/>
                </a:solidFill>
                <a:latin typeface="Calibri"/>
              </a:rPr>
              <a:t>No team needing to be onboarded slowly. Notion policies, dashboards, automations — all shipped personally.</a:t>
            </a:r>
          </a:p>
        </p:txBody>
      </p:sp>
      <p:sp>
        <p:nvSpPr>
          <p:cNvPr id="24" name="TextBox 23"/>
          <p:cNvSpPr txBox="1"/>
          <p:nvPr/>
        </p:nvSpPr>
        <p:spPr>
          <a:xfrm>
            <a:off x="6217920" y="5486400"/>
            <a:ext cx="2514600" cy="203200"/>
          </a:xfrm>
          <a:prstGeom prst="rect">
            <a:avLst/>
          </a:prstGeom>
          <a:noFill/>
        </p:spPr>
        <p:txBody>
          <a:bodyPr wrap="square">
            <a:spAutoFit/>
          </a:bodyPr>
          <a:lstStyle/>
          <a:p>
            <a:pPr algn="l"/>
            <a:r>
              <a:rPr sz="800" b="0" i="0">
                <a:solidFill>
                  <a:srgbClr val="E6007E"/>
                </a:solidFill>
                <a:latin typeface="Calibri"/>
              </a:rPr>
              <a:t>MANAGER-MAKER</a:t>
            </a:r>
          </a:p>
        </p:txBody>
      </p:sp>
      <p:sp>
        <p:nvSpPr>
          <p:cNvPr id="25" name="TextBox 24"/>
          <p:cNvSpPr txBox="1"/>
          <p:nvPr/>
        </p:nvSpPr>
        <p:spPr>
          <a:xfrm>
            <a:off x="6217920" y="5669280"/>
            <a:ext cx="2514600" cy="685800"/>
          </a:xfrm>
          <a:prstGeom prst="rect">
            <a:avLst/>
          </a:prstGeom>
          <a:noFill/>
        </p:spPr>
        <p:txBody>
          <a:bodyPr wrap="square">
            <a:spAutoFit/>
          </a:bodyPr>
          <a:lstStyle/>
          <a:p>
            <a:pPr algn="l"/>
            <a:r>
              <a:rPr sz="1000" b="0" i="0">
                <a:solidFill>
                  <a:srgbClr val="4A2F47"/>
                </a:solidFill>
                <a:latin typeface="Calibri"/>
              </a:rPr>
              <a:t>You used the phrase. It's how I think about the role. Performance through line managers, not through central HR.</a:t>
            </a:r>
          </a:p>
        </p:txBody>
      </p:sp>
      <p:sp>
        <p:nvSpPr>
          <p:cNvPr id="26" name="TextBox 25"/>
          <p:cNvSpPr txBox="1"/>
          <p:nvPr/>
        </p:nvSpPr>
        <p:spPr>
          <a:xfrm>
            <a:off x="8869680" y="5486400"/>
            <a:ext cx="2514600" cy="203200"/>
          </a:xfrm>
          <a:prstGeom prst="rect">
            <a:avLst/>
          </a:prstGeom>
          <a:noFill/>
        </p:spPr>
        <p:txBody>
          <a:bodyPr wrap="square">
            <a:spAutoFit/>
          </a:bodyPr>
          <a:lstStyle/>
          <a:p>
            <a:pPr algn="l"/>
            <a:r>
              <a:rPr sz="800" b="0" i="0">
                <a:solidFill>
                  <a:srgbClr val="E6007E"/>
                </a:solidFill>
                <a:latin typeface="Calibri"/>
              </a:rPr>
              <a:t>COMMERCIAL</a:t>
            </a:r>
          </a:p>
        </p:txBody>
      </p:sp>
      <p:sp>
        <p:nvSpPr>
          <p:cNvPr id="27" name="TextBox 26"/>
          <p:cNvSpPr txBox="1"/>
          <p:nvPr/>
        </p:nvSpPr>
        <p:spPr>
          <a:xfrm>
            <a:off x="8869680" y="5669280"/>
            <a:ext cx="2514600" cy="685800"/>
          </a:xfrm>
          <a:prstGeom prst="rect">
            <a:avLst/>
          </a:prstGeom>
          <a:noFill/>
        </p:spPr>
        <p:txBody>
          <a:bodyPr wrap="square">
            <a:spAutoFit/>
          </a:bodyPr>
          <a:lstStyle/>
          <a:p>
            <a:pPr algn="l"/>
            <a:r>
              <a:rPr sz="1000" b="0" i="0">
                <a:solidFill>
                  <a:srgbClr val="4A2F47"/>
                </a:solidFill>
                <a:latin typeface="Calibri"/>
              </a:rPr>
              <a:t>I read the JD, the AI hospitality blog, and the Series A announcement. I'm pitching to the commercial role, not the administrative one.</a:t>
            </a:r>
          </a:p>
        </p:txBody>
      </p:sp>
      <p:sp>
        <p:nvSpPr>
          <p:cNvPr id="28" name="TextBox 27"/>
          <p:cNvSpPr txBox="1"/>
          <p:nvPr/>
        </p:nvSpPr>
        <p:spPr>
          <a:xfrm>
            <a:off x="822960" y="6537960"/>
            <a:ext cx="10515600" cy="254000"/>
          </a:xfrm>
          <a:prstGeom prst="rect">
            <a:avLst/>
          </a:prstGeom>
          <a:noFill/>
        </p:spPr>
        <p:txBody>
          <a:bodyPr wrap="square">
            <a:spAutoFit/>
          </a:bodyPr>
          <a:lstStyle/>
          <a:p>
            <a:pPr algn="ctr"/>
            <a:r>
              <a:rPr sz="1000" b="0" i="0">
                <a:solidFill>
                  <a:srgbClr val="8A7585"/>
                </a:solidFill>
                <a:latin typeface="Calibri"/>
              </a:rPr>
              <a:t>stephaniefadahunsi@outlook.com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